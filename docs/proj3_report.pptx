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 id="2147483663" r:id="rId2"/>
    <p:sldMasterId id="2147483664" r:id="rId3"/>
    <p:sldMasterId id="2147483665" r:id="rId4"/>
  </p:sldMasterIdLst>
  <p:notesMasterIdLst>
    <p:notesMasterId r:id="rId2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B4B237E-7425-48C3-BFFF-0002C024C5BE}">
  <a:tblStyle styleId="{CB4B237E-7425-48C3-BFFF-0002C024C5B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54"/>
    <p:restoredTop sz="94648"/>
  </p:normalViewPr>
  <p:slideViewPr>
    <p:cSldViewPr snapToGrid="0">
      <p:cViewPr varScale="1">
        <p:scale>
          <a:sx n="162" d="100"/>
          <a:sy n="162" d="100"/>
        </p:scale>
        <p:origin x="320"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39b1938f78_2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 name="Google Shape;78;g339b1938f78_2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39b1938f78_2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g339b1938f78_2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39b1938f78_2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g339b1938f78_2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39b1938f78_2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g339b1938f78_2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39b1938f78_2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g339b1938f78_2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39b1938f78_2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g339b1938f78_2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39b1938f78_2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g339b1938f78_2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39b1938f78_2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g339b1938f78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39b1938f78_2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g339b1938f78_2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39b1938f78_2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g339b1938f78_2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39b1938f78_2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g339b1938f78_2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39b1938f78_2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g339b1938f78_2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39b1938f78_2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g339b1938f78_2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39b1938f78_2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g339b1938f78_2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39b1938f78_2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g339b1938f78_2_10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311760" y="444960"/>
            <a:ext cx="8520120" cy="5724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subTitle" idx="1"/>
          </p:nvPr>
        </p:nvSpPr>
        <p:spPr>
          <a:xfrm>
            <a:off x="311760" y="1152360"/>
            <a:ext cx="8520120" cy="341604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57" name="Google Shape;57;p14"/>
          <p:cNvSpPr txBox="1">
            <a:spLocks noGrp="1"/>
          </p:cNvSpPr>
          <p:nvPr>
            <p:ph type="sldNum" idx="12"/>
          </p:nvPr>
        </p:nvSpPr>
        <p:spPr>
          <a:xfrm>
            <a:off x="8472600" y="4663080"/>
            <a:ext cx="548280" cy="393120"/>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1pPr>
            <a:lvl2pPr marL="0" lvl="1"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2pPr>
            <a:lvl3pPr marL="0" lvl="2"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3pPr>
            <a:lvl4pPr marL="0" lvl="3"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4pPr>
            <a:lvl5pPr marL="0" lvl="4"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5pPr>
            <a:lvl6pPr marL="0" lvl="5"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6pPr>
            <a:lvl7pPr marL="0" lvl="6"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7pPr>
            <a:lvl8pPr marL="0" lvl="7"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8pPr>
            <a:lvl9pPr marL="0" lvl="8"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_AND_TWO_COLUMNS" type="twoObj">
  <p:cSld name="TWO_OBJECTS">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311760" y="444960"/>
            <a:ext cx="8520120" cy="5724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16"/>
          <p:cNvSpPr txBox="1">
            <a:spLocks noGrp="1"/>
          </p:cNvSpPr>
          <p:nvPr>
            <p:ph type="body" idx="1"/>
          </p:nvPr>
        </p:nvSpPr>
        <p:spPr>
          <a:xfrm>
            <a:off x="311760" y="1152360"/>
            <a:ext cx="4157640" cy="34160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16"/>
          <p:cNvSpPr txBox="1">
            <a:spLocks noGrp="1"/>
          </p:cNvSpPr>
          <p:nvPr>
            <p:ph type="body" idx="2"/>
          </p:nvPr>
        </p:nvSpPr>
        <p:spPr>
          <a:xfrm>
            <a:off x="4677840" y="1152360"/>
            <a:ext cx="4157640" cy="34160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6"/>
          <p:cNvSpPr txBox="1">
            <a:spLocks noGrp="1"/>
          </p:cNvSpPr>
          <p:nvPr>
            <p:ph type="sldNum" idx="12"/>
          </p:nvPr>
        </p:nvSpPr>
        <p:spPr>
          <a:xfrm>
            <a:off x="8472600" y="4663080"/>
            <a:ext cx="548280" cy="393120"/>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1pPr>
            <a:lvl2pPr marL="0" lvl="1"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2pPr>
            <a:lvl3pPr marL="0" lvl="2"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3pPr>
            <a:lvl4pPr marL="0" lvl="3"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4pPr>
            <a:lvl5pPr marL="0" lvl="4"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5pPr>
            <a:lvl6pPr marL="0" lvl="5"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6pPr>
            <a:lvl7pPr marL="0" lvl="6"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7pPr>
            <a:lvl8pPr marL="0" lvl="7"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8pPr>
            <a:lvl9pPr marL="0" lvl="8"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_AND_BODY" type="tx">
  <p:cSld name="TITLE_AND_BODY">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311760" y="444960"/>
            <a:ext cx="8520120" cy="5724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8"/>
          <p:cNvSpPr txBox="1">
            <a:spLocks noGrp="1"/>
          </p:cNvSpPr>
          <p:nvPr>
            <p:ph type="body" idx="1"/>
          </p:nvPr>
        </p:nvSpPr>
        <p:spPr>
          <a:xfrm>
            <a:off x="311760" y="1152360"/>
            <a:ext cx="8520120" cy="34160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8"/>
          <p:cNvSpPr txBox="1">
            <a:spLocks noGrp="1"/>
          </p:cNvSpPr>
          <p:nvPr>
            <p:ph type="sldNum" idx="12"/>
          </p:nvPr>
        </p:nvSpPr>
        <p:spPr>
          <a:xfrm>
            <a:off x="8472600" y="4663080"/>
            <a:ext cx="548280" cy="393120"/>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1pPr>
            <a:lvl2pPr marL="0" lvl="1"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2pPr>
            <a:lvl3pPr marL="0" lvl="2"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3pPr>
            <a:lvl4pPr marL="0" lvl="3"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4pPr>
            <a:lvl5pPr marL="0" lvl="4"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5pPr>
            <a:lvl6pPr marL="0" lvl="5"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6pPr>
            <a:lvl7pPr marL="0" lvl="6"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7pPr>
            <a:lvl8pPr marL="0" lvl="7"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8pPr>
            <a:lvl9pPr marL="0" lvl="8"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60" y="744480"/>
            <a:ext cx="8520120" cy="205236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sldNum" idx="12"/>
          </p:nvPr>
        </p:nvSpPr>
        <p:spPr>
          <a:xfrm>
            <a:off x="8472600" y="4663080"/>
            <a:ext cx="548280" cy="39312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solidFill>
                <a:srgbClr val="000000"/>
              </a:solidFill>
              <a:latin typeface="Times New Roman"/>
              <a:ea typeface="Times New Roman"/>
              <a:cs typeface="Times New Roman"/>
              <a:sym typeface="Times New Roman"/>
            </a:endParaRPr>
          </a:p>
        </p:txBody>
      </p:sp>
      <p:sp>
        <p:nvSpPr>
          <p:cNvPr id="53" name="Google Shape;53;p13"/>
          <p:cNvSpPr txBox="1">
            <a:spLocks noGrp="1"/>
          </p:cNvSpPr>
          <p:nvPr>
            <p:ph type="body" idx="1"/>
          </p:nvPr>
        </p:nvSpPr>
        <p:spPr>
          <a:xfrm>
            <a:off x="457200" y="1203480"/>
            <a:ext cx="8229240" cy="2982960"/>
          </a:xfrm>
          <a:prstGeom prst="rect">
            <a:avLst/>
          </a:prstGeom>
          <a:noFill/>
          <a:ln>
            <a:noFill/>
          </a:ln>
        </p:spPr>
        <p:txBody>
          <a:bodyPr spcFirstLastPara="1" wrap="square" lIns="0" tIns="0" rIns="0" bIns="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60" y="444960"/>
            <a:ext cx="8520120" cy="57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15"/>
          <p:cNvSpPr txBox="1">
            <a:spLocks noGrp="1"/>
          </p:cNvSpPr>
          <p:nvPr>
            <p:ph type="body" idx="1"/>
          </p:nvPr>
        </p:nvSpPr>
        <p:spPr>
          <a:xfrm>
            <a:off x="311760" y="1152360"/>
            <a:ext cx="3999600" cy="341604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1" name="Google Shape;61;p15"/>
          <p:cNvSpPr txBox="1">
            <a:spLocks noGrp="1"/>
          </p:cNvSpPr>
          <p:nvPr>
            <p:ph type="body" idx="2"/>
          </p:nvPr>
        </p:nvSpPr>
        <p:spPr>
          <a:xfrm>
            <a:off x="4832280" y="1152360"/>
            <a:ext cx="3999600" cy="341604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2" name="Google Shape;62;p15"/>
          <p:cNvSpPr txBox="1">
            <a:spLocks noGrp="1"/>
          </p:cNvSpPr>
          <p:nvPr>
            <p:ph type="sldNum" idx="12"/>
          </p:nvPr>
        </p:nvSpPr>
        <p:spPr>
          <a:xfrm>
            <a:off x="8472600" y="4663080"/>
            <a:ext cx="548280" cy="39312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1pPr>
            <a:lvl2pPr marL="0" marR="0" lvl="1"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2pPr>
            <a:lvl3pPr marL="0" marR="0" lvl="2"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3pPr>
            <a:lvl4pPr marL="0" marR="0" lvl="3"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4pPr>
            <a:lvl5pPr marL="0" marR="0" lvl="4"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5pPr>
            <a:lvl6pPr marL="0" marR="0" lvl="5"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6pPr>
            <a:lvl7pPr marL="0" marR="0" lvl="6"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7pPr>
            <a:lvl8pPr marL="0" marR="0" lvl="7"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8pPr>
            <a:lvl9pPr marL="0" marR="0" lvl="8"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311760" y="444960"/>
            <a:ext cx="8520120" cy="57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0" name="Google Shape;70;p17"/>
          <p:cNvSpPr txBox="1">
            <a:spLocks noGrp="1"/>
          </p:cNvSpPr>
          <p:nvPr>
            <p:ph type="body" idx="1"/>
          </p:nvPr>
        </p:nvSpPr>
        <p:spPr>
          <a:xfrm>
            <a:off x="311760" y="1152360"/>
            <a:ext cx="8520120" cy="341604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71" name="Google Shape;71;p17"/>
          <p:cNvSpPr txBox="1">
            <a:spLocks noGrp="1"/>
          </p:cNvSpPr>
          <p:nvPr>
            <p:ph type="sldNum" idx="12"/>
          </p:nvPr>
        </p:nvSpPr>
        <p:spPr>
          <a:xfrm>
            <a:off x="8472600" y="4663080"/>
            <a:ext cx="548280" cy="39312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1pPr>
            <a:lvl2pPr marL="0" marR="0" lvl="1"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2pPr>
            <a:lvl3pPr marL="0" marR="0" lvl="2"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3pPr>
            <a:lvl4pPr marL="0" marR="0" lvl="3"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4pPr>
            <a:lvl5pPr marL="0" marR="0" lvl="4"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5pPr>
            <a:lvl6pPr marL="0" marR="0" lvl="5"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6pPr>
            <a:lvl7pPr marL="0" marR="0" lvl="6"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7pPr>
            <a:lvl8pPr marL="0" marR="0" lvl="7"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8pPr>
            <a:lvl9pPr marL="0" marR="0" lvl="8"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9"/>
          <p:cNvSpPr txBox="1">
            <a:spLocks noGrp="1"/>
          </p:cNvSpPr>
          <p:nvPr>
            <p:ph type="title"/>
          </p:nvPr>
        </p:nvSpPr>
        <p:spPr>
          <a:xfrm>
            <a:off x="311760" y="744480"/>
            <a:ext cx="8520120" cy="205236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5200"/>
              <a:buFont typeface="Arial"/>
              <a:buNone/>
            </a:pPr>
            <a:r>
              <a:rPr lang="en" sz="5200" b="0" strike="noStrike" dirty="0">
                <a:solidFill>
                  <a:schemeClr val="dk1"/>
                </a:solidFill>
                <a:latin typeface="Arial"/>
                <a:ea typeface="Arial"/>
                <a:cs typeface="Arial"/>
                <a:sym typeface="Arial"/>
              </a:rPr>
              <a:t>CS </a:t>
            </a:r>
            <a:r>
              <a:rPr lang="en" sz="5200" dirty="0">
                <a:solidFill>
                  <a:schemeClr val="dk1"/>
                </a:solidFill>
                <a:latin typeface="Arial"/>
                <a:ea typeface="Arial"/>
                <a:cs typeface="Arial"/>
                <a:sym typeface="Arial"/>
              </a:rPr>
              <a:t>6</a:t>
            </a:r>
            <a:r>
              <a:rPr lang="en" sz="5200" b="0" strike="noStrike" dirty="0">
                <a:solidFill>
                  <a:schemeClr val="dk1"/>
                </a:solidFill>
                <a:latin typeface="Arial"/>
                <a:ea typeface="Arial"/>
                <a:cs typeface="Arial"/>
                <a:sym typeface="Arial"/>
              </a:rPr>
              <a:t>476 Project 3</a:t>
            </a:r>
            <a:endParaRPr sz="5200" b="0" strike="noStrike" dirty="0">
              <a:solidFill>
                <a:srgbClr val="000000"/>
              </a:solidFill>
              <a:latin typeface="Arial"/>
              <a:ea typeface="Arial"/>
              <a:cs typeface="Arial"/>
              <a:sym typeface="Arial"/>
            </a:endParaRPr>
          </a:p>
        </p:txBody>
      </p:sp>
      <p:sp>
        <p:nvSpPr>
          <p:cNvPr id="81" name="Google Shape;81;p19"/>
          <p:cNvSpPr txBox="1">
            <a:spLocks noGrp="1"/>
          </p:cNvSpPr>
          <p:nvPr>
            <p:ph type="subTitle" idx="1"/>
          </p:nvPr>
        </p:nvSpPr>
        <p:spPr>
          <a:xfrm>
            <a:off x="311760" y="2834280"/>
            <a:ext cx="8520120" cy="79236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2"/>
              </a:buClr>
              <a:buSzPts val="2800"/>
              <a:buFont typeface="Arial"/>
              <a:buNone/>
            </a:pPr>
            <a:r>
              <a:rPr lang="en-US" sz="2800" b="0" i="0" u="none" strike="noStrike" cap="none" dirty="0">
                <a:solidFill>
                  <a:schemeClr val="dk2"/>
                </a:solidFill>
                <a:latin typeface="Arial"/>
                <a:ea typeface="Arial"/>
                <a:cs typeface="Arial"/>
                <a:sym typeface="Arial"/>
              </a:rPr>
              <a:t>Venkata </a:t>
            </a:r>
            <a:r>
              <a:rPr lang="en-US" sz="2800" b="0" i="0" u="none" strike="noStrike" cap="none" dirty="0" err="1">
                <a:solidFill>
                  <a:schemeClr val="dk2"/>
                </a:solidFill>
                <a:latin typeface="Arial"/>
                <a:ea typeface="Arial"/>
                <a:cs typeface="Arial"/>
                <a:sym typeface="Arial"/>
              </a:rPr>
              <a:t>Aashutosh</a:t>
            </a:r>
            <a:r>
              <a:rPr lang="en-US" sz="2800" b="0" i="0" u="none" strike="noStrike" cap="none" dirty="0">
                <a:solidFill>
                  <a:schemeClr val="dk2"/>
                </a:solidFill>
                <a:latin typeface="Arial"/>
                <a:ea typeface="Arial"/>
                <a:cs typeface="Arial"/>
                <a:sym typeface="Arial"/>
              </a:rPr>
              <a:t> </a:t>
            </a:r>
            <a:r>
              <a:rPr lang="en-US" sz="2800" b="0" i="0" u="none" strike="noStrike" cap="none" dirty="0" err="1">
                <a:solidFill>
                  <a:schemeClr val="dk2"/>
                </a:solidFill>
                <a:latin typeface="Arial"/>
                <a:ea typeface="Arial"/>
                <a:cs typeface="Arial"/>
                <a:sym typeface="Arial"/>
              </a:rPr>
              <a:t>Aripirala</a:t>
            </a:r>
            <a:endParaRPr sz="2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2"/>
              </a:buClr>
              <a:buSzPts val="2800"/>
              <a:buFont typeface="Arial"/>
              <a:buNone/>
            </a:pPr>
            <a:r>
              <a:rPr lang="en-US" sz="2800" b="0" i="0" u="none" strike="noStrike" cap="none" dirty="0">
                <a:solidFill>
                  <a:schemeClr val="dk2"/>
                </a:solidFill>
                <a:latin typeface="Arial"/>
                <a:ea typeface="Arial"/>
                <a:cs typeface="Arial"/>
                <a:sym typeface="Arial"/>
              </a:rPr>
              <a:t>av84@gatech.edu</a:t>
            </a:r>
            <a:endParaRPr sz="2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2"/>
              </a:buClr>
              <a:buSzPts val="2800"/>
              <a:buFont typeface="Arial"/>
              <a:buNone/>
            </a:pPr>
            <a:r>
              <a:rPr lang="en-US" sz="2800" b="0" i="0" u="none" strike="noStrike" cap="none" dirty="0">
                <a:solidFill>
                  <a:schemeClr val="dk2"/>
                </a:solidFill>
                <a:latin typeface="Arial"/>
                <a:ea typeface="Arial"/>
                <a:cs typeface="Arial"/>
                <a:sym typeface="Arial"/>
              </a:rPr>
              <a:t>av84</a:t>
            </a:r>
            <a:endParaRPr sz="2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2"/>
              </a:buClr>
              <a:buSzPts val="2800"/>
              <a:buFont typeface="Arial"/>
              <a:buNone/>
            </a:pPr>
            <a:r>
              <a:rPr lang="en-US" dirty="0">
                <a:solidFill>
                  <a:schemeClr val="dk2"/>
                </a:solidFill>
              </a:rPr>
              <a:t>904173725</a:t>
            </a:r>
            <a:endParaRPr sz="2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800"/>
              <a:buFont typeface="Arial"/>
              <a:buNone/>
            </a:pPr>
            <a:endParaRPr sz="2800" b="0" i="0" u="none" strike="noStrike" cap="none" dirty="0">
              <a:solidFill>
                <a:srgbClr val="000000"/>
              </a:solidFill>
              <a:latin typeface="Arial"/>
              <a:ea typeface="Arial"/>
              <a:cs typeface="Arial"/>
              <a:sym typeface="Arial"/>
            </a:endParaRPr>
          </a:p>
        </p:txBody>
      </p:sp>
      <p:sp>
        <p:nvSpPr>
          <p:cNvPr id="2" name="文本框 1">
            <a:extLst>
              <a:ext uri="{FF2B5EF4-FFF2-40B4-BE49-F238E27FC236}">
                <a16:creationId xmlns:a16="http://schemas.microsoft.com/office/drawing/2014/main" id="{70033FCB-7FF3-D085-8934-D0CE36608B37}"/>
              </a:ext>
            </a:extLst>
          </p:cNvPr>
          <p:cNvSpPr txBox="1"/>
          <p:nvPr/>
        </p:nvSpPr>
        <p:spPr>
          <a:xfrm>
            <a:off x="450109" y="56251"/>
            <a:ext cx="8243422" cy="12003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lgn="ctr" defTabSz="914400">
              <a:lnSpc>
                <a:spcPct val="100000"/>
              </a:lnSpc>
              <a:spcBef>
                <a:spcPts val="1001"/>
              </a:spcBef>
              <a:tabLst>
                <a:tab pos="0" algn="l"/>
              </a:tabLst>
            </a:pPr>
            <a:r>
              <a:rPr lang="en-US" altLang="zh-CN" sz="1800" b="0" u="none" strike="noStrike" dirty="0">
                <a:solidFill>
                  <a:srgbClr val="C9211E"/>
                </a:solidFill>
                <a:uFillTx/>
                <a:latin typeface="Arial"/>
                <a:ea typeface="Arial"/>
              </a:rPr>
              <a:t>Warning: Do not delete slides.</a:t>
            </a:r>
            <a:br>
              <a:rPr lang="en-US" altLang="zh-CN" sz="1800" dirty="0"/>
            </a:br>
            <a:r>
              <a:rPr lang="en-US" altLang="zh-CN" sz="1800" b="1" u="none" strike="noStrike" dirty="0">
                <a:solidFill>
                  <a:srgbClr val="C9211E"/>
                </a:solidFill>
                <a:uFillTx/>
                <a:latin typeface="Arial"/>
                <a:ea typeface="Arial"/>
              </a:rPr>
              <a:t>This includes extra credit slides and any problems you do not complete</a:t>
            </a:r>
            <a:r>
              <a:rPr lang="en-US" altLang="zh-CN" sz="1800" b="0" u="none" strike="noStrike" dirty="0">
                <a:solidFill>
                  <a:srgbClr val="C9211E"/>
                </a:solidFill>
                <a:uFillTx/>
                <a:latin typeface="Arial"/>
                <a:ea typeface="Arial"/>
              </a:rPr>
              <a:t>. </a:t>
            </a:r>
            <a:r>
              <a:rPr lang="en-US" altLang="zh-CN" sz="1800" b="1" u="none" strike="noStrike" dirty="0">
                <a:solidFill>
                  <a:srgbClr val="C9211E"/>
                </a:solidFill>
                <a:uFillTx/>
                <a:latin typeface="Arial"/>
                <a:ea typeface="Arial"/>
              </a:rPr>
              <a:t>All problems, including extra credit, must be assigned to a slide on </a:t>
            </a:r>
            <a:r>
              <a:rPr lang="en-US" altLang="zh-CN" sz="1800" b="1" u="none" strike="noStrike" dirty="0" err="1">
                <a:solidFill>
                  <a:srgbClr val="C9211E"/>
                </a:solidFill>
                <a:uFillTx/>
                <a:latin typeface="Arial"/>
                <a:ea typeface="Arial"/>
              </a:rPr>
              <a:t>Gradescope</a:t>
            </a:r>
            <a:r>
              <a:rPr lang="en-US" altLang="zh-CN" sz="1800" b="0" u="none" strike="noStrike" dirty="0">
                <a:solidFill>
                  <a:srgbClr val="C9211E"/>
                </a:solidFill>
                <a:uFillTx/>
                <a:latin typeface="Arial"/>
                <a:ea typeface="Arial"/>
              </a:rPr>
              <a:t>.  Failure to follow this will result in a penalty.</a:t>
            </a:r>
            <a:endParaRPr lang="en-US" altLang="zh-CN" sz="1800" b="0" u="none" strike="noStrike" dirty="0">
              <a:solidFill>
                <a:srgbClr val="000000"/>
              </a:solidFill>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311760" y="444960"/>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a:solidFill>
                  <a:schemeClr val="dk1"/>
                </a:solidFill>
                <a:latin typeface="Arial"/>
                <a:ea typeface="Arial"/>
                <a:cs typeface="Arial"/>
                <a:sym typeface="Arial"/>
              </a:rPr>
              <a:t>Part 1: SimpleNet</a:t>
            </a:r>
            <a:endParaRPr sz="2800" b="0" strike="noStrike">
              <a:solidFill>
                <a:srgbClr val="000000"/>
              </a:solidFill>
              <a:latin typeface="Arial"/>
              <a:ea typeface="Arial"/>
              <a:cs typeface="Arial"/>
              <a:sym typeface="Arial"/>
            </a:endParaRPr>
          </a:p>
        </p:txBody>
      </p:sp>
      <p:sp>
        <p:nvSpPr>
          <p:cNvPr id="88" name="Google Shape;88;p20"/>
          <p:cNvSpPr txBox="1">
            <a:spLocks noGrp="1"/>
          </p:cNvSpPr>
          <p:nvPr>
            <p:ph type="body" idx="1"/>
          </p:nvPr>
        </p:nvSpPr>
        <p:spPr>
          <a:xfrm>
            <a:off x="311760" y="954505"/>
            <a:ext cx="3999600" cy="3613895"/>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[Insert loss plot for </a:t>
            </a:r>
            <a:r>
              <a:rPr lang="en" sz="1400" b="0" i="0" u="none" strike="noStrike" cap="none" dirty="0" err="1">
                <a:solidFill>
                  <a:schemeClr val="dk2"/>
                </a:solidFill>
                <a:latin typeface="Arial"/>
                <a:ea typeface="Arial"/>
                <a:cs typeface="Arial"/>
                <a:sym typeface="Arial"/>
              </a:rPr>
              <a:t>SimpleNet</a:t>
            </a:r>
            <a:r>
              <a:rPr lang="en" sz="1400" b="0" i="0" u="none" strike="noStrike" cap="none" dirty="0">
                <a:solidFill>
                  <a:schemeClr val="dk2"/>
                </a:solidFill>
                <a:latin typeface="Arial"/>
                <a:ea typeface="Arial"/>
                <a:cs typeface="Arial"/>
                <a:sym typeface="Arial"/>
              </a:rPr>
              <a:t> here]</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Final training accuracy: 64.288%</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Final validation accuracy: 48.933%</a:t>
            </a:r>
            <a:endParaRPr sz="1400" b="0" i="0" u="none" strike="noStrike" cap="none" dirty="0">
              <a:solidFill>
                <a:srgbClr val="000000"/>
              </a:solidFill>
              <a:latin typeface="Arial"/>
              <a:ea typeface="Arial"/>
              <a:cs typeface="Arial"/>
              <a:sym typeface="Arial"/>
            </a:endParaRPr>
          </a:p>
        </p:txBody>
      </p:sp>
      <p:sp>
        <p:nvSpPr>
          <p:cNvPr id="89" name="Google Shape;89;p20"/>
          <p:cNvSpPr txBox="1">
            <a:spLocks noGrp="1"/>
          </p:cNvSpPr>
          <p:nvPr>
            <p:ph type="body" idx="1"/>
          </p:nvPr>
        </p:nvSpPr>
        <p:spPr>
          <a:xfrm>
            <a:off x="4832280" y="115236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a:solidFill>
                  <a:schemeClr val="dk2"/>
                </a:solidFill>
                <a:latin typeface="Arial"/>
                <a:ea typeface="Arial"/>
                <a:cs typeface="Arial"/>
                <a:sym typeface="Arial"/>
              </a:rPr>
              <a:t>[Insert accuracy plot for SimpleNet here]</a:t>
            </a:r>
            <a:endParaRPr sz="1400" b="0" i="0" u="none" strike="noStrike" cap="none">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023AB0A8-AC93-CC49-9093-298428D38D16}"/>
              </a:ext>
            </a:extLst>
          </p:cNvPr>
          <p:cNvPicPr>
            <a:picLocks noChangeAspect="1"/>
          </p:cNvPicPr>
          <p:nvPr/>
        </p:nvPicPr>
        <p:blipFill>
          <a:blip r:embed="rId3"/>
          <a:stretch>
            <a:fillRect/>
          </a:stretch>
        </p:blipFill>
        <p:spPr>
          <a:xfrm>
            <a:off x="311760" y="1425280"/>
            <a:ext cx="2543148" cy="2023773"/>
          </a:xfrm>
          <a:prstGeom prst="rect">
            <a:avLst/>
          </a:prstGeom>
        </p:spPr>
      </p:pic>
      <p:pic>
        <p:nvPicPr>
          <p:cNvPr id="3" name="Picture 2">
            <a:extLst>
              <a:ext uri="{FF2B5EF4-FFF2-40B4-BE49-F238E27FC236}">
                <a16:creationId xmlns:a16="http://schemas.microsoft.com/office/drawing/2014/main" id="{4E2F2536-D1A3-244A-A736-108F4325B53B}"/>
              </a:ext>
            </a:extLst>
          </p:cNvPr>
          <p:cNvPicPr>
            <a:picLocks noChangeAspect="1"/>
          </p:cNvPicPr>
          <p:nvPr/>
        </p:nvPicPr>
        <p:blipFill>
          <a:blip r:embed="rId4"/>
          <a:stretch>
            <a:fillRect/>
          </a:stretch>
        </p:blipFill>
        <p:spPr>
          <a:xfrm>
            <a:off x="4571820" y="1643930"/>
            <a:ext cx="3606800" cy="287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1"/>
          <p:cNvSpPr txBox="1">
            <a:spLocks noGrp="1"/>
          </p:cNvSpPr>
          <p:nvPr>
            <p:ph type="title"/>
          </p:nvPr>
        </p:nvSpPr>
        <p:spPr>
          <a:xfrm>
            <a:off x="311760" y="444960"/>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a:solidFill>
                  <a:schemeClr val="dk1"/>
                </a:solidFill>
                <a:latin typeface="Arial"/>
                <a:ea typeface="Arial"/>
                <a:cs typeface="Arial"/>
                <a:sym typeface="Arial"/>
              </a:rPr>
              <a:t>Part 2: SimpleNetFinal</a:t>
            </a:r>
            <a:endParaRPr sz="2800" b="0" strike="noStrike">
              <a:solidFill>
                <a:srgbClr val="000000"/>
              </a:solidFill>
              <a:latin typeface="Arial"/>
              <a:ea typeface="Arial"/>
              <a:cs typeface="Arial"/>
              <a:sym typeface="Arial"/>
            </a:endParaRPr>
          </a:p>
        </p:txBody>
      </p:sp>
      <p:sp>
        <p:nvSpPr>
          <p:cNvPr id="95" name="Google Shape;95;p21"/>
          <p:cNvSpPr txBox="1">
            <a:spLocks noGrp="1"/>
          </p:cNvSpPr>
          <p:nvPr>
            <p:ph type="body" idx="1"/>
          </p:nvPr>
        </p:nvSpPr>
        <p:spPr>
          <a:xfrm>
            <a:off x="311760" y="1152360"/>
            <a:ext cx="852012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 sz="1800" b="0" i="0" u="none" strike="noStrike" cap="none" dirty="0">
                <a:solidFill>
                  <a:schemeClr val="dk2"/>
                </a:solidFill>
                <a:latin typeface="Arial"/>
                <a:ea typeface="Arial"/>
                <a:cs typeface="Arial"/>
                <a:sym typeface="Arial"/>
              </a:rPr>
              <a:t>Add each of the following (keeping the changes as you move to the next row):</a:t>
            </a:r>
            <a:endParaRPr sz="1800" b="0" i="0" u="none" strike="noStrike" cap="none" dirty="0">
              <a:solidFill>
                <a:srgbClr val="000000"/>
              </a:solidFill>
              <a:latin typeface="Arial"/>
              <a:ea typeface="Arial"/>
              <a:cs typeface="Arial"/>
              <a:sym typeface="Arial"/>
            </a:endParaRPr>
          </a:p>
        </p:txBody>
      </p:sp>
      <p:graphicFrame>
        <p:nvGraphicFramePr>
          <p:cNvPr id="96" name="Google Shape;96;p21"/>
          <p:cNvGraphicFramePr/>
          <p:nvPr>
            <p:extLst>
              <p:ext uri="{D42A27DB-BD31-4B8C-83A1-F6EECF244321}">
                <p14:modId xmlns:p14="http://schemas.microsoft.com/office/powerpoint/2010/main" val="2682432251"/>
              </p:ext>
            </p:extLst>
          </p:nvPr>
        </p:nvGraphicFramePr>
        <p:xfrm>
          <a:off x="1239480" y="1693440"/>
          <a:ext cx="6664675" cy="3168700"/>
        </p:xfrm>
        <a:graphic>
          <a:graphicData uri="http://schemas.openxmlformats.org/drawingml/2006/table">
            <a:tbl>
              <a:tblPr>
                <a:noFill/>
                <a:tableStyleId>{CB4B237E-7425-48C3-BFFF-0002C024C5BE}</a:tableStyleId>
              </a:tblPr>
              <a:tblGrid>
                <a:gridCol w="3908150">
                  <a:extLst>
                    <a:ext uri="{9D8B030D-6E8A-4147-A177-3AD203B41FA5}">
                      <a16:colId xmlns:a16="http://schemas.microsoft.com/office/drawing/2014/main" val="20000"/>
                    </a:ext>
                  </a:extLst>
                </a:gridCol>
                <a:gridCol w="1401125">
                  <a:extLst>
                    <a:ext uri="{9D8B030D-6E8A-4147-A177-3AD203B41FA5}">
                      <a16:colId xmlns:a16="http://schemas.microsoft.com/office/drawing/2014/main" val="20001"/>
                    </a:ext>
                  </a:extLst>
                </a:gridCol>
                <a:gridCol w="1355400">
                  <a:extLst>
                    <a:ext uri="{9D8B030D-6E8A-4147-A177-3AD203B41FA5}">
                      <a16:colId xmlns:a16="http://schemas.microsoft.com/office/drawing/2014/main" val="20002"/>
                    </a:ext>
                  </a:extLst>
                </a:gridCol>
              </a:tblGrid>
              <a:tr h="609475">
                <a:tc>
                  <a:txBody>
                    <a:bodyPr/>
                    <a:lstStyle/>
                    <a:p>
                      <a:pPr marL="0" marR="0" lvl="0" indent="0" algn="l" rtl="0">
                        <a:spcBef>
                          <a:spcPts val="0"/>
                        </a:spcBef>
                        <a:spcAft>
                          <a:spcPts val="0"/>
                        </a:spcAft>
                        <a:buNone/>
                      </a:pP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1400" b="0" strike="noStrike">
                          <a:solidFill>
                            <a:srgbClr val="000000"/>
                          </a:solidFill>
                          <a:latin typeface="Arial"/>
                          <a:ea typeface="Arial"/>
                          <a:cs typeface="Arial"/>
                          <a:sym typeface="Arial"/>
                        </a:rPr>
                        <a:t>Training accuracy</a:t>
                      </a:r>
                      <a:endParaRPr sz="1400" b="0" strike="noStrike">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1400" b="0" strike="noStrike">
                          <a:solidFill>
                            <a:srgbClr val="000000"/>
                          </a:solidFill>
                          <a:latin typeface="Arial"/>
                          <a:ea typeface="Arial"/>
                          <a:cs typeface="Arial"/>
                          <a:sym typeface="Arial"/>
                        </a:rPr>
                        <a:t>Validation accuracy</a:t>
                      </a:r>
                      <a:endParaRPr sz="1400" b="0" strike="noStrike">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96000">
                <a:tc>
                  <a:txBody>
                    <a:bodyPr/>
                    <a:lstStyle/>
                    <a:p>
                      <a:pPr marL="228600" marR="0" lvl="0" indent="0" algn="l" rtl="0">
                        <a:lnSpc>
                          <a:spcPct val="100000"/>
                        </a:lnSpc>
                        <a:spcBef>
                          <a:spcPts val="0"/>
                        </a:spcBef>
                        <a:spcAft>
                          <a:spcPts val="0"/>
                        </a:spcAft>
                        <a:buNone/>
                      </a:pPr>
                      <a:r>
                        <a:rPr lang="en" sz="1400" b="0" strike="noStrike" dirty="0" err="1">
                          <a:solidFill>
                            <a:srgbClr val="000000"/>
                          </a:solidFill>
                          <a:latin typeface="Arial"/>
                          <a:ea typeface="Arial"/>
                          <a:cs typeface="Arial"/>
                          <a:sym typeface="Arial"/>
                        </a:rPr>
                        <a:t>SimpleNet</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400" b="0" i="0" u="none" strike="noStrike" cap="none" dirty="0">
                          <a:solidFill>
                            <a:schemeClr val="dk2"/>
                          </a:solidFill>
                          <a:latin typeface="Arial"/>
                          <a:ea typeface="Arial"/>
                          <a:cs typeface="Arial"/>
                          <a:sym typeface="Arial"/>
                        </a:rPr>
                        <a:t>64.29%</a:t>
                      </a:r>
                      <a:endParaRPr lang="en" sz="1400" b="0" i="0" u="none" strike="noStrike" cap="non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400" b="0" i="0" u="none" strike="noStrike" cap="none" dirty="0">
                          <a:solidFill>
                            <a:schemeClr val="dk2"/>
                          </a:solidFill>
                          <a:latin typeface="Arial"/>
                          <a:ea typeface="Arial"/>
                          <a:cs typeface="Arial"/>
                          <a:sym typeface="Arial"/>
                        </a:rPr>
                        <a:t>48.93%</a:t>
                      </a:r>
                      <a:endParaRPr lang="en" sz="1400" b="0" i="0" u="none" strike="noStrike" cap="non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96000">
                <a:tc>
                  <a:txBody>
                    <a:bodyPr/>
                    <a:lstStyle/>
                    <a:p>
                      <a:pPr marL="457200" marR="0" lvl="0" indent="-317520" algn="l" rtl="0">
                        <a:lnSpc>
                          <a:spcPct val="100000"/>
                        </a:lnSpc>
                        <a:spcBef>
                          <a:spcPts val="0"/>
                        </a:spcBef>
                        <a:spcAft>
                          <a:spcPts val="0"/>
                        </a:spcAft>
                        <a:buClr>
                          <a:srgbClr val="000000"/>
                        </a:buClr>
                        <a:buSzPts val="1400"/>
                        <a:buFont typeface="Arial"/>
                        <a:buChar char="+"/>
                      </a:pPr>
                      <a:r>
                        <a:rPr lang="en" sz="1400" b="0" strike="noStrike" dirty="0">
                          <a:solidFill>
                            <a:srgbClr val="000000"/>
                          </a:solidFill>
                          <a:latin typeface="Arial"/>
                          <a:ea typeface="Arial"/>
                          <a:cs typeface="Arial"/>
                          <a:sym typeface="Arial"/>
                        </a:rPr>
                        <a:t>Jittering</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strike="noStrike" dirty="0">
                          <a:solidFill>
                            <a:srgbClr val="000000"/>
                          </a:solidFill>
                          <a:latin typeface="Arial"/>
                          <a:ea typeface="Arial"/>
                          <a:cs typeface="Arial"/>
                          <a:sym typeface="Arial"/>
                        </a:rPr>
                        <a:t>58.19%</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strike="noStrike" dirty="0">
                          <a:solidFill>
                            <a:srgbClr val="000000"/>
                          </a:solidFill>
                          <a:latin typeface="Arial"/>
                          <a:ea typeface="Arial"/>
                          <a:cs typeface="Arial"/>
                          <a:sym typeface="Arial"/>
                        </a:rPr>
                        <a:t>51.87%</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609475">
                <a:tc>
                  <a:txBody>
                    <a:bodyPr/>
                    <a:lstStyle/>
                    <a:p>
                      <a:pPr marL="457200" marR="0" lvl="0" indent="-317520" algn="l" rtl="0">
                        <a:lnSpc>
                          <a:spcPct val="100000"/>
                        </a:lnSpc>
                        <a:spcBef>
                          <a:spcPts val="0"/>
                        </a:spcBef>
                        <a:spcAft>
                          <a:spcPts val="0"/>
                        </a:spcAft>
                        <a:buClr>
                          <a:srgbClr val="000000"/>
                        </a:buClr>
                        <a:buSzPts val="1400"/>
                        <a:buFont typeface="Arial"/>
                        <a:buChar char="+"/>
                      </a:pPr>
                      <a:r>
                        <a:rPr lang="en" sz="1400" b="0" strike="noStrike" dirty="0">
                          <a:solidFill>
                            <a:srgbClr val="000000"/>
                          </a:solidFill>
                          <a:latin typeface="Arial"/>
                          <a:ea typeface="Arial"/>
                          <a:cs typeface="Arial"/>
                          <a:sym typeface="Arial"/>
                        </a:rPr>
                        <a:t>Zero-centering &amp; variance-normalization</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strike="noStrike" dirty="0">
                          <a:solidFill>
                            <a:srgbClr val="000000"/>
                          </a:solidFill>
                          <a:latin typeface="Arial"/>
                          <a:ea typeface="Arial"/>
                          <a:cs typeface="Arial"/>
                          <a:sym typeface="Arial"/>
                        </a:rPr>
                        <a:t>74.67%</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strike="noStrike" dirty="0">
                          <a:solidFill>
                            <a:srgbClr val="000000"/>
                          </a:solidFill>
                          <a:latin typeface="Arial"/>
                          <a:ea typeface="Arial"/>
                          <a:cs typeface="Arial"/>
                          <a:sym typeface="Arial"/>
                        </a:rPr>
                        <a:t>56.53%</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96000">
                <a:tc>
                  <a:txBody>
                    <a:bodyPr/>
                    <a:lstStyle/>
                    <a:p>
                      <a:pPr marL="457200" marR="0" lvl="0" indent="-317520" algn="l" rtl="0">
                        <a:lnSpc>
                          <a:spcPct val="100000"/>
                        </a:lnSpc>
                        <a:spcBef>
                          <a:spcPts val="0"/>
                        </a:spcBef>
                        <a:spcAft>
                          <a:spcPts val="0"/>
                        </a:spcAft>
                        <a:buClr>
                          <a:srgbClr val="000000"/>
                        </a:buClr>
                        <a:buSzPts val="1400"/>
                        <a:buFont typeface="Arial"/>
                        <a:buChar char="+"/>
                      </a:pPr>
                      <a:r>
                        <a:rPr lang="en" sz="1400" b="0" strike="noStrike" dirty="0">
                          <a:solidFill>
                            <a:srgbClr val="000000"/>
                          </a:solidFill>
                          <a:latin typeface="Arial"/>
                          <a:ea typeface="Arial"/>
                          <a:cs typeface="Arial"/>
                          <a:sym typeface="Arial"/>
                        </a:rPr>
                        <a:t>Dropout regularization</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strike="noStrike" dirty="0">
                          <a:solidFill>
                            <a:srgbClr val="000000"/>
                          </a:solidFill>
                          <a:latin typeface="Arial"/>
                          <a:ea typeface="Arial"/>
                          <a:cs typeface="Arial"/>
                          <a:sym typeface="Arial"/>
                        </a:rPr>
                        <a:t>67.44%</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strike="noStrike" dirty="0">
                          <a:solidFill>
                            <a:srgbClr val="000000"/>
                          </a:solidFill>
                          <a:latin typeface="Arial"/>
                          <a:ea typeface="Arial"/>
                          <a:cs typeface="Arial"/>
                          <a:sym typeface="Arial"/>
                        </a:rPr>
                        <a:t>54.00%</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80875">
                <a:tc>
                  <a:txBody>
                    <a:bodyPr/>
                    <a:lstStyle/>
                    <a:p>
                      <a:pPr marL="457200" marR="0" lvl="0" indent="-317520" algn="l" rtl="0">
                        <a:lnSpc>
                          <a:spcPct val="100000"/>
                        </a:lnSpc>
                        <a:spcBef>
                          <a:spcPts val="0"/>
                        </a:spcBef>
                        <a:spcAft>
                          <a:spcPts val="0"/>
                        </a:spcAft>
                        <a:buClr>
                          <a:srgbClr val="000000"/>
                        </a:buClr>
                        <a:buSzPts val="1400"/>
                        <a:buFont typeface="Arial"/>
                        <a:buChar char="+"/>
                      </a:pPr>
                      <a:r>
                        <a:rPr lang="en" sz="1400" b="0" strike="noStrike" dirty="0">
                          <a:solidFill>
                            <a:srgbClr val="000000"/>
                          </a:solidFill>
                          <a:latin typeface="Arial"/>
                          <a:ea typeface="Arial"/>
                          <a:cs typeface="Arial"/>
                          <a:sym typeface="Arial"/>
                        </a:rPr>
                        <a:t>Making network "deep"</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strike="noStrike" dirty="0">
                          <a:solidFill>
                            <a:srgbClr val="000000"/>
                          </a:solidFill>
                          <a:latin typeface="Arial"/>
                          <a:ea typeface="Arial"/>
                          <a:cs typeface="Arial"/>
                          <a:sym typeface="Arial"/>
                        </a:rPr>
                        <a:t>61.31%</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strike="noStrike" dirty="0">
                          <a:solidFill>
                            <a:srgbClr val="000000"/>
                          </a:solidFill>
                          <a:latin typeface="Arial"/>
                          <a:ea typeface="Arial"/>
                          <a:cs typeface="Arial"/>
                          <a:sym typeface="Arial"/>
                        </a:rPr>
                        <a:t>54.93%</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380875">
                <a:tc>
                  <a:txBody>
                    <a:bodyPr/>
                    <a:lstStyle/>
                    <a:p>
                      <a:pPr marL="457200" marR="0" lvl="0" indent="-317520" algn="l" rtl="0">
                        <a:lnSpc>
                          <a:spcPct val="100000"/>
                        </a:lnSpc>
                        <a:spcBef>
                          <a:spcPts val="0"/>
                        </a:spcBef>
                        <a:spcAft>
                          <a:spcPts val="0"/>
                        </a:spcAft>
                        <a:buClr>
                          <a:srgbClr val="000000"/>
                        </a:buClr>
                        <a:buSzPts val="1400"/>
                        <a:buFont typeface="Arial"/>
                        <a:buChar char="+"/>
                      </a:pPr>
                      <a:r>
                        <a:rPr lang="en" sz="1400" b="0" strike="noStrike" dirty="0">
                          <a:solidFill>
                            <a:srgbClr val="000000"/>
                          </a:solidFill>
                          <a:latin typeface="Arial"/>
                          <a:ea typeface="Arial"/>
                          <a:cs typeface="Arial"/>
                          <a:sym typeface="Arial"/>
                        </a:rPr>
                        <a:t>Batch normalization</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strike="noStrike" dirty="0">
                          <a:solidFill>
                            <a:srgbClr val="000000"/>
                          </a:solidFill>
                          <a:latin typeface="Arial"/>
                          <a:ea typeface="Arial"/>
                          <a:cs typeface="Arial"/>
                          <a:sym typeface="Arial"/>
                        </a:rPr>
                        <a:t>60.33%</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strike="noStrike" dirty="0">
                          <a:solidFill>
                            <a:srgbClr val="000000"/>
                          </a:solidFill>
                          <a:latin typeface="Arial"/>
                          <a:ea typeface="Arial"/>
                          <a:cs typeface="Arial"/>
                          <a:sym typeface="Arial"/>
                        </a:rPr>
                        <a:t>61.2%</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2"/>
          <p:cNvSpPr txBox="1">
            <a:spLocks noGrp="1"/>
          </p:cNvSpPr>
          <p:nvPr>
            <p:ph type="title"/>
          </p:nvPr>
        </p:nvSpPr>
        <p:spPr>
          <a:xfrm>
            <a:off x="311760" y="444960"/>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a:solidFill>
                  <a:schemeClr val="dk1"/>
                </a:solidFill>
                <a:latin typeface="Arial"/>
                <a:ea typeface="Arial"/>
                <a:cs typeface="Arial"/>
                <a:sym typeface="Arial"/>
              </a:rPr>
              <a:t>Part 2: SimpleNetFinal</a:t>
            </a:r>
            <a:endParaRPr sz="2800" b="0" strike="noStrike">
              <a:solidFill>
                <a:srgbClr val="000000"/>
              </a:solidFill>
              <a:latin typeface="Arial"/>
              <a:ea typeface="Arial"/>
              <a:cs typeface="Arial"/>
              <a:sym typeface="Arial"/>
            </a:endParaRPr>
          </a:p>
        </p:txBody>
      </p:sp>
      <p:sp>
        <p:nvSpPr>
          <p:cNvPr id="102" name="Google Shape;102;p22"/>
          <p:cNvSpPr txBox="1">
            <a:spLocks noGrp="1"/>
          </p:cNvSpPr>
          <p:nvPr>
            <p:ph type="body" idx="1"/>
          </p:nvPr>
        </p:nvSpPr>
        <p:spPr>
          <a:xfrm>
            <a:off x="311760" y="1017360"/>
            <a:ext cx="3999600" cy="3551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[Insert loss plot for </a:t>
            </a:r>
            <a:r>
              <a:rPr lang="en" sz="1400" b="0" i="0" u="none" strike="noStrike" cap="none" dirty="0" err="1">
                <a:solidFill>
                  <a:schemeClr val="dk2"/>
                </a:solidFill>
                <a:latin typeface="Arial"/>
                <a:ea typeface="Arial"/>
                <a:cs typeface="Arial"/>
                <a:sym typeface="Arial"/>
              </a:rPr>
              <a:t>SimpleNetFinal</a:t>
            </a:r>
            <a:r>
              <a:rPr lang="en" sz="1400" b="0" i="0" u="none" strike="noStrike" cap="none" dirty="0">
                <a:solidFill>
                  <a:schemeClr val="dk2"/>
                </a:solidFill>
                <a:latin typeface="Arial"/>
                <a:ea typeface="Arial"/>
                <a:cs typeface="Arial"/>
                <a:sym typeface="Arial"/>
              </a:rPr>
              <a:t> here]</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endParaRPr lang="en" sz="1400" b="0" i="0" u="none" strike="noStrike" cap="none" dirty="0">
              <a:solidFill>
                <a:schemeClr val="dk2"/>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Final training accuracy: 60.335%</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Final validation accuracy: 61.2%</a:t>
            </a:r>
            <a:endParaRPr sz="1400" b="0" i="0" u="none" strike="noStrike" cap="none" dirty="0">
              <a:solidFill>
                <a:srgbClr val="000000"/>
              </a:solidFill>
              <a:latin typeface="Arial"/>
              <a:ea typeface="Arial"/>
              <a:cs typeface="Arial"/>
              <a:sym typeface="Arial"/>
            </a:endParaRPr>
          </a:p>
        </p:txBody>
      </p:sp>
      <p:sp>
        <p:nvSpPr>
          <p:cNvPr id="103" name="Google Shape;103;p22"/>
          <p:cNvSpPr txBox="1">
            <a:spLocks noGrp="1"/>
          </p:cNvSpPr>
          <p:nvPr>
            <p:ph type="body" idx="1"/>
          </p:nvPr>
        </p:nvSpPr>
        <p:spPr>
          <a:xfrm>
            <a:off x="4832280" y="115236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[Insert accuracy plot for </a:t>
            </a:r>
            <a:r>
              <a:rPr lang="en" sz="1400" b="0" i="0" u="none" strike="noStrike" cap="none" dirty="0" err="1">
                <a:solidFill>
                  <a:schemeClr val="dk2"/>
                </a:solidFill>
                <a:latin typeface="Arial"/>
                <a:ea typeface="Arial"/>
                <a:cs typeface="Arial"/>
                <a:sym typeface="Arial"/>
              </a:rPr>
              <a:t>SimpleNetFinal</a:t>
            </a:r>
            <a:r>
              <a:rPr lang="en" sz="1400" b="0" i="0" u="none" strike="noStrike" cap="none" dirty="0">
                <a:solidFill>
                  <a:schemeClr val="dk2"/>
                </a:solidFill>
                <a:latin typeface="Arial"/>
                <a:ea typeface="Arial"/>
                <a:cs typeface="Arial"/>
                <a:sym typeface="Arial"/>
              </a:rPr>
              <a:t> here]</a:t>
            </a:r>
            <a:endParaRPr sz="1400" b="0" i="0" u="none" strike="noStrike" cap="none" dirty="0">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92A38432-943A-254A-82E3-6E70418190DA}"/>
              </a:ext>
            </a:extLst>
          </p:cNvPr>
          <p:cNvPicPr>
            <a:picLocks noChangeAspect="1"/>
          </p:cNvPicPr>
          <p:nvPr/>
        </p:nvPicPr>
        <p:blipFill>
          <a:blip r:embed="rId3"/>
          <a:stretch>
            <a:fillRect/>
          </a:stretch>
        </p:blipFill>
        <p:spPr>
          <a:xfrm>
            <a:off x="399992" y="1425280"/>
            <a:ext cx="2896661" cy="2305089"/>
          </a:xfrm>
          <a:prstGeom prst="rect">
            <a:avLst/>
          </a:prstGeom>
        </p:spPr>
      </p:pic>
      <p:pic>
        <p:nvPicPr>
          <p:cNvPr id="3" name="Picture 2">
            <a:extLst>
              <a:ext uri="{FF2B5EF4-FFF2-40B4-BE49-F238E27FC236}">
                <a16:creationId xmlns:a16="http://schemas.microsoft.com/office/drawing/2014/main" id="{621C02E0-9BF9-8244-BB07-90564F4A544B}"/>
              </a:ext>
            </a:extLst>
          </p:cNvPr>
          <p:cNvPicPr>
            <a:picLocks noChangeAspect="1"/>
          </p:cNvPicPr>
          <p:nvPr/>
        </p:nvPicPr>
        <p:blipFill>
          <a:blip r:embed="rId4"/>
          <a:stretch>
            <a:fillRect/>
          </a:stretch>
        </p:blipFill>
        <p:spPr>
          <a:xfrm>
            <a:off x="4832280" y="1625935"/>
            <a:ext cx="3606800" cy="287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3"/>
          <p:cNvSpPr txBox="1">
            <a:spLocks noGrp="1"/>
          </p:cNvSpPr>
          <p:nvPr>
            <p:ph type="title"/>
          </p:nvPr>
        </p:nvSpPr>
        <p:spPr>
          <a:xfrm>
            <a:off x="311760" y="444960"/>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dirty="0">
                <a:solidFill>
                  <a:schemeClr val="dk1"/>
                </a:solidFill>
                <a:latin typeface="Arial"/>
                <a:ea typeface="Arial"/>
                <a:cs typeface="Arial"/>
                <a:sym typeface="Arial"/>
              </a:rPr>
              <a:t>Part 2: </a:t>
            </a:r>
            <a:r>
              <a:rPr lang="en" sz="2800" b="0" strike="noStrike" dirty="0" err="1">
                <a:solidFill>
                  <a:schemeClr val="dk1"/>
                </a:solidFill>
                <a:latin typeface="Arial"/>
                <a:ea typeface="Arial"/>
                <a:cs typeface="Arial"/>
                <a:sym typeface="Arial"/>
              </a:rPr>
              <a:t>SimpleNetFinal</a:t>
            </a:r>
            <a:endParaRPr sz="2800" b="0" strike="noStrike" dirty="0">
              <a:solidFill>
                <a:srgbClr val="000000"/>
              </a:solidFill>
              <a:latin typeface="Arial"/>
              <a:ea typeface="Arial"/>
              <a:cs typeface="Arial"/>
              <a:sym typeface="Arial"/>
            </a:endParaRPr>
          </a:p>
        </p:txBody>
      </p:sp>
      <p:sp>
        <p:nvSpPr>
          <p:cNvPr id="109" name="Google Shape;109;p23"/>
          <p:cNvSpPr txBox="1">
            <a:spLocks noGrp="1"/>
          </p:cNvSpPr>
          <p:nvPr>
            <p:ph type="body" idx="1"/>
          </p:nvPr>
        </p:nvSpPr>
        <p:spPr>
          <a:xfrm>
            <a:off x="311760" y="115236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[Name 10 different possible transformations for data augmentation.]</a:t>
            </a:r>
          </a:p>
          <a:p>
            <a:pPr marL="342900" marR="0" lvl="0" algn="l" rtl="0">
              <a:lnSpc>
                <a:spcPct val="115000"/>
              </a:lnSpc>
              <a:spcBef>
                <a:spcPts val="0"/>
              </a:spcBef>
              <a:spcAft>
                <a:spcPts val="0"/>
              </a:spcAft>
              <a:buClr>
                <a:schemeClr val="dk2"/>
              </a:buClr>
              <a:buSzPts val="1400"/>
              <a:buFont typeface="Arial"/>
              <a:buAutoNum type="arabicPeriod"/>
            </a:pPr>
            <a:r>
              <a:rPr lang="en" sz="1400" dirty="0">
                <a:solidFill>
                  <a:schemeClr val="tx1"/>
                </a:solidFill>
              </a:rPr>
              <a:t>Random Horizontal Flip</a:t>
            </a:r>
          </a:p>
          <a:p>
            <a:pPr marL="342900" marR="0" lvl="0" algn="l" rtl="0">
              <a:lnSpc>
                <a:spcPct val="115000"/>
              </a:lnSpc>
              <a:spcBef>
                <a:spcPts val="0"/>
              </a:spcBef>
              <a:spcAft>
                <a:spcPts val="0"/>
              </a:spcAft>
              <a:buClr>
                <a:schemeClr val="dk2"/>
              </a:buClr>
              <a:buSzPts val="1400"/>
              <a:buFont typeface="Arial"/>
              <a:buAutoNum type="arabicPeriod"/>
            </a:pPr>
            <a:r>
              <a:rPr lang="en" sz="1400" b="0" i="0" u="none" strike="noStrike" cap="none" dirty="0">
                <a:solidFill>
                  <a:schemeClr val="tx1"/>
                </a:solidFill>
                <a:latin typeface="Arial"/>
                <a:ea typeface="Arial"/>
                <a:cs typeface="Arial"/>
                <a:sym typeface="Arial"/>
              </a:rPr>
              <a:t>Random Vertical Flip</a:t>
            </a:r>
          </a:p>
          <a:p>
            <a:pPr marL="342900" marR="0" lvl="0" algn="l" rtl="0">
              <a:lnSpc>
                <a:spcPct val="115000"/>
              </a:lnSpc>
              <a:spcBef>
                <a:spcPts val="0"/>
              </a:spcBef>
              <a:spcAft>
                <a:spcPts val="0"/>
              </a:spcAft>
              <a:buClr>
                <a:schemeClr val="dk2"/>
              </a:buClr>
              <a:buSzPts val="1400"/>
              <a:buFont typeface="Arial"/>
              <a:buAutoNum type="arabicPeriod"/>
            </a:pPr>
            <a:r>
              <a:rPr lang="en" sz="1400" dirty="0">
                <a:solidFill>
                  <a:schemeClr val="tx1"/>
                </a:solidFill>
              </a:rPr>
              <a:t>Random rotation</a:t>
            </a:r>
          </a:p>
          <a:p>
            <a:pPr marL="342900" marR="0" lvl="0" algn="l" rtl="0">
              <a:lnSpc>
                <a:spcPct val="115000"/>
              </a:lnSpc>
              <a:spcBef>
                <a:spcPts val="0"/>
              </a:spcBef>
              <a:spcAft>
                <a:spcPts val="0"/>
              </a:spcAft>
              <a:buClr>
                <a:schemeClr val="dk2"/>
              </a:buClr>
              <a:buSzPts val="1400"/>
              <a:buFont typeface="Arial"/>
              <a:buAutoNum type="arabicPeriod"/>
            </a:pPr>
            <a:r>
              <a:rPr lang="en" sz="1400" b="0" i="0" u="none" strike="noStrike" cap="none" dirty="0">
                <a:solidFill>
                  <a:schemeClr val="tx1"/>
                </a:solidFill>
                <a:latin typeface="Arial"/>
                <a:ea typeface="Arial"/>
                <a:cs typeface="Arial"/>
                <a:sym typeface="Arial"/>
              </a:rPr>
              <a:t>Random Resizing crop</a:t>
            </a:r>
          </a:p>
          <a:p>
            <a:pPr marL="342900" marR="0" lvl="0" algn="l" rtl="0">
              <a:lnSpc>
                <a:spcPct val="115000"/>
              </a:lnSpc>
              <a:spcBef>
                <a:spcPts val="0"/>
              </a:spcBef>
              <a:spcAft>
                <a:spcPts val="0"/>
              </a:spcAft>
              <a:buClr>
                <a:schemeClr val="dk2"/>
              </a:buClr>
              <a:buSzPts val="1400"/>
              <a:buFont typeface="Arial"/>
              <a:buAutoNum type="arabicPeriod"/>
            </a:pPr>
            <a:r>
              <a:rPr lang="en" sz="1400" dirty="0">
                <a:solidFill>
                  <a:schemeClr val="tx1"/>
                </a:solidFill>
              </a:rPr>
              <a:t>Color jitter</a:t>
            </a:r>
            <a:endParaRPr lang="en-US" sz="1400" dirty="0">
              <a:solidFill>
                <a:schemeClr val="tx1"/>
              </a:solidFill>
            </a:endParaRPr>
          </a:p>
          <a:p>
            <a:pPr marL="342900" marR="0" lvl="0" algn="l" rtl="0">
              <a:lnSpc>
                <a:spcPct val="115000"/>
              </a:lnSpc>
              <a:spcBef>
                <a:spcPts val="0"/>
              </a:spcBef>
              <a:spcAft>
                <a:spcPts val="0"/>
              </a:spcAft>
              <a:buClr>
                <a:schemeClr val="dk2"/>
              </a:buClr>
              <a:buSzPts val="1400"/>
              <a:buFont typeface="Arial"/>
              <a:buAutoNum type="arabicPeriod"/>
            </a:pPr>
            <a:r>
              <a:rPr lang="en-US" sz="1400" dirty="0">
                <a:solidFill>
                  <a:srgbClr val="000000"/>
                </a:solidFill>
              </a:rPr>
              <a:t>Random Affine Transform</a:t>
            </a:r>
          </a:p>
          <a:p>
            <a:pPr marL="342900" marR="0" lvl="0" algn="l" rtl="0">
              <a:lnSpc>
                <a:spcPct val="115000"/>
              </a:lnSpc>
              <a:spcBef>
                <a:spcPts val="0"/>
              </a:spcBef>
              <a:spcAft>
                <a:spcPts val="0"/>
              </a:spcAft>
              <a:buClr>
                <a:schemeClr val="dk2"/>
              </a:buClr>
              <a:buSzPts val="1400"/>
              <a:buFont typeface="Arial"/>
              <a:buAutoNum type="arabicPeriod"/>
            </a:pPr>
            <a:r>
              <a:rPr lang="en-US" sz="1400" dirty="0">
                <a:solidFill>
                  <a:srgbClr val="000000"/>
                </a:solidFill>
              </a:rPr>
              <a:t>Gaussian Blur</a:t>
            </a:r>
          </a:p>
          <a:p>
            <a:pPr marL="342900" marR="0" lvl="0" algn="l" rtl="0">
              <a:lnSpc>
                <a:spcPct val="115000"/>
              </a:lnSpc>
              <a:spcBef>
                <a:spcPts val="0"/>
              </a:spcBef>
              <a:spcAft>
                <a:spcPts val="0"/>
              </a:spcAft>
              <a:buClr>
                <a:schemeClr val="dk2"/>
              </a:buClr>
              <a:buSzPts val="1400"/>
              <a:buFont typeface="Arial"/>
              <a:buAutoNum type="arabicPeriod"/>
            </a:pPr>
            <a:r>
              <a:rPr lang="en-US" sz="1400" dirty="0">
                <a:solidFill>
                  <a:srgbClr val="000000"/>
                </a:solidFill>
              </a:rPr>
              <a:t>Random patch erasing</a:t>
            </a:r>
          </a:p>
          <a:p>
            <a:pPr marL="342900" marR="0" lvl="0" algn="l" rtl="0">
              <a:lnSpc>
                <a:spcPct val="115000"/>
              </a:lnSpc>
              <a:spcBef>
                <a:spcPts val="0"/>
              </a:spcBef>
              <a:spcAft>
                <a:spcPts val="0"/>
              </a:spcAft>
              <a:buClr>
                <a:schemeClr val="dk2"/>
              </a:buClr>
              <a:buSzPts val="1400"/>
              <a:buFont typeface="Arial"/>
              <a:buAutoNum type="arabicPeriod"/>
            </a:pPr>
            <a:r>
              <a:rPr lang="en-US" sz="1400" dirty="0">
                <a:solidFill>
                  <a:srgbClr val="000000"/>
                </a:solidFill>
              </a:rPr>
              <a:t>Random perspective warp</a:t>
            </a:r>
          </a:p>
          <a:p>
            <a:pPr marL="342900" marR="0" lvl="0" algn="l" rtl="0">
              <a:lnSpc>
                <a:spcPct val="115000"/>
              </a:lnSpc>
              <a:spcBef>
                <a:spcPts val="0"/>
              </a:spcBef>
              <a:spcAft>
                <a:spcPts val="0"/>
              </a:spcAft>
              <a:buClr>
                <a:schemeClr val="dk2"/>
              </a:buClr>
              <a:buSzPts val="1400"/>
              <a:buFont typeface="Arial"/>
              <a:buAutoNum type="arabicPeriod"/>
            </a:pPr>
            <a:r>
              <a:rPr lang="en-US" sz="1400" dirty="0">
                <a:solidFill>
                  <a:srgbClr val="000000"/>
                </a:solidFill>
              </a:rPr>
              <a:t>Gaussian Noise</a:t>
            </a:r>
          </a:p>
          <a:p>
            <a:pPr marL="0" marR="0" lvl="0" indent="0" algn="l" rtl="0">
              <a:lnSpc>
                <a:spcPct val="115000"/>
              </a:lnSpc>
              <a:spcBef>
                <a:spcPts val="0"/>
              </a:spcBef>
              <a:spcAft>
                <a:spcPts val="0"/>
              </a:spcAft>
              <a:buClr>
                <a:schemeClr val="dk2"/>
              </a:buClr>
              <a:buSzPts val="1400"/>
              <a:buNone/>
            </a:pPr>
            <a:endParaRPr lang="en" sz="1400" dirty="0">
              <a:solidFill>
                <a:schemeClr val="dk2"/>
              </a:solidFill>
            </a:endParaRPr>
          </a:p>
        </p:txBody>
      </p:sp>
      <p:sp>
        <p:nvSpPr>
          <p:cNvPr id="110" name="Google Shape;110;p23"/>
          <p:cNvSpPr txBox="1">
            <a:spLocks noGrp="1"/>
          </p:cNvSpPr>
          <p:nvPr>
            <p:ph type="body" idx="1"/>
          </p:nvPr>
        </p:nvSpPr>
        <p:spPr>
          <a:xfrm>
            <a:off x="4832280" y="115236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[What is the desired variance after each layer? Why would that be helpful?]</a:t>
            </a:r>
          </a:p>
          <a:p>
            <a:pPr marL="0" marR="0" lvl="0" indent="0" algn="l" rtl="0">
              <a:lnSpc>
                <a:spcPct val="115000"/>
              </a:lnSpc>
              <a:spcBef>
                <a:spcPts val="0"/>
              </a:spcBef>
              <a:spcAft>
                <a:spcPts val="0"/>
              </a:spcAft>
              <a:buClr>
                <a:schemeClr val="dk2"/>
              </a:buClr>
              <a:buSzPts val="1400"/>
              <a:buFont typeface="Arial"/>
              <a:buNone/>
            </a:pPr>
            <a:r>
              <a:rPr lang="en" sz="1400" dirty="0">
                <a:solidFill>
                  <a:schemeClr val="tx1"/>
                </a:solidFill>
              </a:rPr>
              <a:t>The desired variance of </a:t>
            </a:r>
            <a:r>
              <a:rPr lang="en-IN" sz="1400" dirty="0">
                <a:solidFill>
                  <a:schemeClr val="tx1"/>
                </a:solidFill>
              </a:rPr>
              <a:t>the activations(outputs) is 1, along with a desired mean of 0. We implement this using </a:t>
            </a:r>
            <a:r>
              <a:rPr lang="en-IN" sz="1400" dirty="0" err="1">
                <a:solidFill>
                  <a:schemeClr val="tx1"/>
                </a:solidFill>
              </a:rPr>
              <a:t>BatchNorm</a:t>
            </a:r>
            <a:r>
              <a:rPr lang="en-IN" sz="1400" dirty="0">
                <a:solidFill>
                  <a:schemeClr val="tx1"/>
                </a:solidFill>
              </a:rPr>
              <a:t>. The </a:t>
            </a:r>
            <a:r>
              <a:rPr lang="en-IN" sz="1400" dirty="0" err="1">
                <a:solidFill>
                  <a:schemeClr val="tx1"/>
                </a:solidFill>
              </a:rPr>
              <a:t>batchnorm</a:t>
            </a:r>
            <a:r>
              <a:rPr lang="en-IN" sz="1400" dirty="0">
                <a:solidFill>
                  <a:schemeClr val="tx1"/>
                </a:solidFill>
              </a:rPr>
              <a:t> is crucial for mitigating risk of Internal Covariance Shift, which is the unstable change in layer distributions during training. This norm prevents that problem, allowing us to use faster learning rates, while avoiding the training process divergence. This allows for convergence to optimality quicker. </a:t>
            </a:r>
            <a:endParaRPr sz="1400" b="0" i="0" u="none" strike="noStrike" cap="none" dirty="0">
              <a:solidFill>
                <a:schemeClr val="tx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4"/>
          <p:cNvSpPr txBox="1">
            <a:spLocks noGrp="1"/>
          </p:cNvSpPr>
          <p:nvPr>
            <p:ph type="title"/>
          </p:nvPr>
        </p:nvSpPr>
        <p:spPr>
          <a:xfrm>
            <a:off x="311760" y="444960"/>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dirty="0">
                <a:solidFill>
                  <a:schemeClr val="dk1"/>
                </a:solidFill>
                <a:latin typeface="Arial"/>
                <a:ea typeface="Arial"/>
                <a:cs typeface="Arial"/>
                <a:sym typeface="Arial"/>
              </a:rPr>
              <a:t>Part 2: </a:t>
            </a:r>
            <a:r>
              <a:rPr lang="en" sz="2800" b="0" strike="noStrike" dirty="0" err="1">
                <a:solidFill>
                  <a:schemeClr val="dk1"/>
                </a:solidFill>
                <a:latin typeface="Arial"/>
                <a:ea typeface="Arial"/>
                <a:cs typeface="Arial"/>
                <a:sym typeface="Arial"/>
              </a:rPr>
              <a:t>SimpleNetFinal</a:t>
            </a:r>
            <a:endParaRPr sz="2800" b="0" strike="noStrike" dirty="0">
              <a:solidFill>
                <a:srgbClr val="000000"/>
              </a:solidFill>
              <a:latin typeface="Arial"/>
              <a:ea typeface="Arial"/>
              <a:cs typeface="Arial"/>
              <a:sym typeface="Arial"/>
            </a:endParaRPr>
          </a:p>
        </p:txBody>
      </p:sp>
      <p:sp>
        <p:nvSpPr>
          <p:cNvPr id="116" name="Google Shape;116;p24"/>
          <p:cNvSpPr txBox="1">
            <a:spLocks noGrp="1"/>
          </p:cNvSpPr>
          <p:nvPr>
            <p:ph type="body" idx="1"/>
          </p:nvPr>
        </p:nvSpPr>
        <p:spPr>
          <a:xfrm>
            <a:off x="311760" y="115236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[What distribution is dropout usually sampled from?]</a:t>
            </a:r>
          </a:p>
          <a:p>
            <a:pPr marL="0" marR="0" lvl="0" indent="0" algn="l" rtl="0">
              <a:lnSpc>
                <a:spcPct val="115000"/>
              </a:lnSpc>
              <a:spcBef>
                <a:spcPts val="0"/>
              </a:spcBef>
              <a:spcAft>
                <a:spcPts val="0"/>
              </a:spcAft>
              <a:buClr>
                <a:schemeClr val="dk1"/>
              </a:buClr>
              <a:buSzPts val="1400"/>
              <a:buFont typeface="Arial"/>
              <a:buNone/>
            </a:pPr>
            <a:r>
              <a:rPr lang="en-US" sz="1400" b="0" i="0" u="none" strike="noStrike" cap="none" dirty="0">
                <a:solidFill>
                  <a:srgbClr val="000000"/>
                </a:solidFill>
                <a:latin typeface="Arial"/>
                <a:ea typeface="Arial"/>
                <a:cs typeface="Arial"/>
                <a:sym typeface="Arial"/>
              </a:rPr>
              <a:t>Dropout is usually sampled from the Bernoulli distribution, as dropout can be compared to a Bernoulli trial, with a probability ’1-p’ of choice of dropping a neuron. The value “p” in </a:t>
            </a:r>
            <a:r>
              <a:rPr lang="en-US" sz="1400" b="0" i="0" u="none" strike="noStrike" cap="none" dirty="0" err="1">
                <a:solidFill>
                  <a:srgbClr val="000000"/>
                </a:solidFill>
                <a:latin typeface="Arial"/>
                <a:ea typeface="Arial"/>
                <a:cs typeface="Arial"/>
                <a:sym typeface="Arial"/>
              </a:rPr>
              <a:t>nn.Dropout</a:t>
            </a:r>
            <a:r>
              <a:rPr lang="en-US" sz="1400" b="0" i="0" u="none" strike="noStrike" cap="none" dirty="0">
                <a:solidFill>
                  <a:srgbClr val="000000"/>
                </a:solidFill>
                <a:latin typeface="Arial"/>
                <a:ea typeface="Arial"/>
                <a:cs typeface="Arial"/>
                <a:sym typeface="Arial"/>
              </a:rPr>
              <a:t>(p) refers to the probability of an element being dropped.</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endParaRPr lang="en" sz="1400" b="0" i="0" u="none" strike="noStrike" cap="none" dirty="0">
              <a:solidFill>
                <a:schemeClr val="dk2"/>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[How many parameters does your base </a:t>
            </a:r>
            <a:r>
              <a:rPr lang="en" sz="1400" b="0" i="0" u="none" strike="noStrike" cap="none" dirty="0" err="1">
                <a:solidFill>
                  <a:schemeClr val="dk2"/>
                </a:solidFill>
                <a:latin typeface="Arial"/>
                <a:ea typeface="Arial"/>
                <a:cs typeface="Arial"/>
                <a:sym typeface="Arial"/>
              </a:rPr>
              <a:t>SimpleNet</a:t>
            </a:r>
            <a:r>
              <a:rPr lang="en" sz="1400" b="0" i="0" u="none" strike="noStrike" cap="none" dirty="0">
                <a:solidFill>
                  <a:schemeClr val="dk2"/>
                </a:solidFill>
                <a:latin typeface="Arial"/>
                <a:ea typeface="Arial"/>
                <a:cs typeface="Arial"/>
                <a:sym typeface="Arial"/>
              </a:rPr>
              <a:t> model have? How many parameters does your </a:t>
            </a:r>
            <a:r>
              <a:rPr lang="en" sz="1400" b="0" i="0" u="none" strike="noStrike" cap="none" dirty="0" err="1">
                <a:solidFill>
                  <a:schemeClr val="dk2"/>
                </a:solidFill>
                <a:latin typeface="Arial"/>
                <a:ea typeface="Arial"/>
                <a:cs typeface="Arial"/>
                <a:sym typeface="Arial"/>
              </a:rPr>
              <a:t>SimpleNetFinal</a:t>
            </a:r>
            <a:r>
              <a:rPr lang="en" sz="1400" b="0" i="0" u="none" strike="noStrike" cap="none" dirty="0">
                <a:solidFill>
                  <a:schemeClr val="dk2"/>
                </a:solidFill>
                <a:latin typeface="Arial"/>
                <a:ea typeface="Arial"/>
                <a:cs typeface="Arial"/>
                <a:sym typeface="Arial"/>
              </a:rPr>
              <a:t> model have?]</a:t>
            </a:r>
          </a:p>
          <a:p>
            <a:pPr marL="0" lvl="0" indent="0">
              <a:lnSpc>
                <a:spcPct val="115000"/>
              </a:lnSpc>
              <a:spcBef>
                <a:spcPts val="0"/>
              </a:spcBef>
              <a:buClr>
                <a:schemeClr val="dk2"/>
              </a:buClr>
              <a:buSzPts val="1400"/>
              <a:buNone/>
            </a:pPr>
            <a:r>
              <a:rPr lang="en-US" sz="1400" b="0" i="0" u="none" strike="noStrike" cap="none" dirty="0" err="1">
                <a:solidFill>
                  <a:srgbClr val="000000"/>
                </a:solidFill>
                <a:latin typeface="Arial"/>
                <a:ea typeface="Arial"/>
                <a:cs typeface="Arial"/>
                <a:sym typeface="Arial"/>
              </a:rPr>
              <a:t>SimpleNet</a:t>
            </a:r>
            <a:r>
              <a:rPr lang="en-US" sz="1400" dirty="0">
                <a:solidFill>
                  <a:srgbClr val="000000"/>
                </a:solidFill>
              </a:rPr>
              <a:t>: 56,895</a:t>
            </a:r>
          </a:p>
          <a:p>
            <a:pPr marL="0" lvl="0" indent="0">
              <a:lnSpc>
                <a:spcPct val="115000"/>
              </a:lnSpc>
              <a:spcBef>
                <a:spcPts val="0"/>
              </a:spcBef>
              <a:buClr>
                <a:schemeClr val="dk2"/>
              </a:buClr>
              <a:buSzPts val="1400"/>
              <a:buNone/>
            </a:pPr>
            <a:r>
              <a:rPr lang="en-US" sz="1400" b="0" i="0" u="none" strike="noStrike" cap="none" dirty="0" err="1">
                <a:solidFill>
                  <a:srgbClr val="000000"/>
                </a:solidFill>
                <a:latin typeface="Arial"/>
                <a:ea typeface="Arial"/>
                <a:cs typeface="Arial"/>
                <a:sym typeface="Arial"/>
              </a:rPr>
              <a:t>SimpleNet</a:t>
            </a:r>
            <a:r>
              <a:rPr lang="en-US" sz="1400" dirty="0" err="1">
                <a:solidFill>
                  <a:srgbClr val="000000"/>
                </a:solidFill>
              </a:rPr>
              <a:t>Final</a:t>
            </a:r>
            <a:r>
              <a:rPr lang="en-US" sz="1400" dirty="0">
                <a:solidFill>
                  <a:srgbClr val="000000"/>
                </a:solidFill>
              </a:rPr>
              <a:t>: 26,675</a:t>
            </a:r>
            <a:endParaRPr sz="1400" b="0" i="0" u="none" strike="noStrike" cap="none" dirty="0">
              <a:solidFill>
                <a:srgbClr val="000000"/>
              </a:solidFill>
              <a:latin typeface="Arial"/>
              <a:ea typeface="Arial"/>
              <a:cs typeface="Arial"/>
              <a:sym typeface="Arial"/>
            </a:endParaRPr>
          </a:p>
        </p:txBody>
      </p:sp>
      <p:sp>
        <p:nvSpPr>
          <p:cNvPr id="117" name="Google Shape;117;p24"/>
          <p:cNvSpPr txBox="1">
            <a:spLocks noGrp="1"/>
          </p:cNvSpPr>
          <p:nvPr>
            <p:ph type="body" idx="1"/>
          </p:nvPr>
        </p:nvSpPr>
        <p:spPr>
          <a:xfrm>
            <a:off x="4832280" y="115236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[What is the effect of batch norm after a conv layer with a bias?]</a:t>
            </a: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tx1"/>
                </a:solidFill>
                <a:latin typeface="Arial"/>
                <a:ea typeface="Arial"/>
                <a:cs typeface="Arial"/>
                <a:sym typeface="Arial"/>
              </a:rPr>
              <a:t>When </a:t>
            </a:r>
            <a:r>
              <a:rPr lang="en" sz="1400" b="0" i="0" u="none" strike="noStrike" cap="none" dirty="0" err="1">
                <a:solidFill>
                  <a:schemeClr val="tx1"/>
                </a:solidFill>
                <a:latin typeface="Arial"/>
                <a:ea typeface="Arial"/>
                <a:cs typeface="Arial"/>
                <a:sym typeface="Arial"/>
              </a:rPr>
              <a:t>batchnorm</a:t>
            </a:r>
            <a:r>
              <a:rPr lang="en" sz="1400" b="0" i="0" u="none" strike="noStrike" cap="none" dirty="0">
                <a:solidFill>
                  <a:schemeClr val="tx1"/>
                </a:solidFill>
                <a:latin typeface="Arial"/>
                <a:ea typeface="Arial"/>
                <a:cs typeface="Arial"/>
                <a:sym typeface="Arial"/>
              </a:rPr>
              <a:t> follows a conv layer + bias, the bias essentially becomes redundant, and this can be attributed to the following explanation. </a:t>
            </a:r>
          </a:p>
          <a:p>
            <a:pPr marL="0" marR="0" lvl="0" indent="0" algn="l" rtl="0">
              <a:lnSpc>
                <a:spcPct val="115000"/>
              </a:lnSpc>
              <a:spcBef>
                <a:spcPts val="0"/>
              </a:spcBef>
              <a:spcAft>
                <a:spcPts val="0"/>
              </a:spcAft>
              <a:buClr>
                <a:schemeClr val="dk2"/>
              </a:buClr>
              <a:buSzPts val="1400"/>
              <a:buFont typeface="Arial"/>
              <a:buNone/>
            </a:pPr>
            <a:r>
              <a:rPr lang="en-IN" sz="1400" dirty="0">
                <a:solidFill>
                  <a:schemeClr val="tx1"/>
                </a:solidFill>
              </a:rPr>
              <a:t>O</a:t>
            </a:r>
            <a:r>
              <a:rPr lang="en" sz="1400" dirty="0" err="1">
                <a:solidFill>
                  <a:schemeClr val="tx1"/>
                </a:solidFill>
              </a:rPr>
              <a:t>utput</a:t>
            </a:r>
            <a:r>
              <a:rPr lang="en" sz="1400" dirty="0">
                <a:solidFill>
                  <a:schemeClr val="tx1"/>
                </a:solidFill>
              </a:rPr>
              <a:t> = conv(input) + bias</a:t>
            </a:r>
          </a:p>
          <a:p>
            <a:pPr marL="0" marR="0" lvl="0" indent="0" algn="l" rtl="0">
              <a:lnSpc>
                <a:spcPct val="115000"/>
              </a:lnSpc>
              <a:spcBef>
                <a:spcPts val="0"/>
              </a:spcBef>
              <a:spcAft>
                <a:spcPts val="0"/>
              </a:spcAft>
              <a:buClr>
                <a:schemeClr val="dk2"/>
              </a:buClr>
              <a:buSzPts val="1400"/>
              <a:buFont typeface="Arial"/>
              <a:buNone/>
            </a:pPr>
            <a:r>
              <a:rPr lang="en-IN" sz="1400" b="0" i="0" u="none" strike="noStrike" cap="none" dirty="0">
                <a:solidFill>
                  <a:schemeClr val="tx1"/>
                </a:solidFill>
                <a:latin typeface="Arial"/>
                <a:ea typeface="Arial"/>
                <a:cs typeface="Arial"/>
                <a:sym typeface="Arial"/>
              </a:rPr>
              <a:t>N</a:t>
            </a:r>
            <a:r>
              <a:rPr lang="en" sz="1400" b="0" i="0" u="none" strike="noStrike" cap="none" dirty="0" err="1">
                <a:solidFill>
                  <a:schemeClr val="tx1"/>
                </a:solidFill>
                <a:latin typeface="Arial"/>
                <a:ea typeface="Arial"/>
                <a:cs typeface="Arial"/>
                <a:sym typeface="Arial"/>
              </a:rPr>
              <a:t>orm_output</a:t>
            </a:r>
            <a:r>
              <a:rPr lang="en" sz="1400" b="0" i="0" u="none" strike="noStrike" cap="none" dirty="0">
                <a:solidFill>
                  <a:schemeClr val="tx1"/>
                </a:solidFill>
                <a:latin typeface="Arial"/>
                <a:ea typeface="Arial"/>
                <a:cs typeface="Arial"/>
                <a:sym typeface="Arial"/>
              </a:rPr>
              <a:t> = (output – mean)/variance</a:t>
            </a:r>
          </a:p>
          <a:p>
            <a:pPr marL="0" marR="0" lvl="0" indent="0" algn="l" rtl="0">
              <a:lnSpc>
                <a:spcPct val="115000"/>
              </a:lnSpc>
              <a:spcBef>
                <a:spcPts val="0"/>
              </a:spcBef>
              <a:spcAft>
                <a:spcPts val="0"/>
              </a:spcAft>
              <a:buClr>
                <a:schemeClr val="dk2"/>
              </a:buClr>
              <a:buSzPts val="1400"/>
              <a:buFont typeface="Arial"/>
              <a:buNone/>
            </a:pPr>
            <a:r>
              <a:rPr lang="en-IN" sz="1400" dirty="0">
                <a:solidFill>
                  <a:schemeClr val="tx1"/>
                </a:solidFill>
              </a:rPr>
              <a:t>S</a:t>
            </a:r>
            <a:r>
              <a:rPr lang="en" sz="1400" dirty="0" err="1">
                <a:solidFill>
                  <a:schemeClr val="tx1"/>
                </a:solidFill>
              </a:rPr>
              <a:t>ince</a:t>
            </a:r>
            <a:r>
              <a:rPr lang="en" sz="1400" dirty="0">
                <a:solidFill>
                  <a:schemeClr val="tx1"/>
                </a:solidFill>
              </a:rPr>
              <a:t> the constant bias is added to all elements, it is also present in the mean, and therefore is subtracted in </a:t>
            </a:r>
            <a:r>
              <a:rPr lang="en-IN" sz="1400" dirty="0" err="1">
                <a:solidFill>
                  <a:schemeClr val="tx1"/>
                </a:solidFill>
              </a:rPr>
              <a:t>th</a:t>
            </a:r>
            <a:r>
              <a:rPr lang="en" sz="1400" dirty="0">
                <a:solidFill>
                  <a:schemeClr val="tx1"/>
                </a:solidFill>
              </a:rPr>
              <a:t>e numerator of the </a:t>
            </a:r>
            <a:r>
              <a:rPr lang="en" sz="1400" dirty="0" err="1">
                <a:solidFill>
                  <a:schemeClr val="tx1"/>
                </a:solidFill>
              </a:rPr>
              <a:t>norm_output</a:t>
            </a:r>
            <a:r>
              <a:rPr lang="en" sz="1400" dirty="0">
                <a:solidFill>
                  <a:schemeClr val="tx1"/>
                </a:solidFill>
              </a:rPr>
              <a:t> equation. </a:t>
            </a:r>
            <a:endParaRPr lang="en" sz="1400" b="0" i="0" u="none" strike="noStrike" cap="none" dirty="0">
              <a:solidFill>
                <a:schemeClr val="tx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5"/>
          <p:cNvSpPr txBox="1">
            <a:spLocks noGrp="1"/>
          </p:cNvSpPr>
          <p:nvPr>
            <p:ph type="title"/>
          </p:nvPr>
        </p:nvSpPr>
        <p:spPr>
          <a:xfrm>
            <a:off x="311760" y="444960"/>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dirty="0">
                <a:solidFill>
                  <a:schemeClr val="dk1"/>
                </a:solidFill>
                <a:latin typeface="Arial"/>
                <a:ea typeface="Arial"/>
                <a:cs typeface="Arial"/>
                <a:sym typeface="Arial"/>
              </a:rPr>
              <a:t>Part 3: </a:t>
            </a:r>
            <a:r>
              <a:rPr lang="en" sz="2800" b="0" strike="noStrike" dirty="0" err="1">
                <a:solidFill>
                  <a:schemeClr val="dk1"/>
                </a:solidFill>
                <a:latin typeface="Arial"/>
                <a:ea typeface="Arial"/>
                <a:cs typeface="Arial"/>
                <a:sym typeface="Arial"/>
              </a:rPr>
              <a:t>ResNet</a:t>
            </a:r>
            <a:endParaRPr sz="2800" b="0" strike="noStrike" dirty="0">
              <a:solidFill>
                <a:srgbClr val="000000"/>
              </a:solidFill>
              <a:latin typeface="Arial"/>
              <a:ea typeface="Arial"/>
              <a:cs typeface="Arial"/>
              <a:sym typeface="Arial"/>
            </a:endParaRPr>
          </a:p>
        </p:txBody>
      </p:sp>
      <p:sp>
        <p:nvSpPr>
          <p:cNvPr id="123" name="Google Shape;123;p25"/>
          <p:cNvSpPr txBox="1">
            <a:spLocks noGrp="1"/>
          </p:cNvSpPr>
          <p:nvPr>
            <p:ph type="body" idx="1"/>
          </p:nvPr>
        </p:nvSpPr>
        <p:spPr>
          <a:xfrm>
            <a:off x="311760" y="115236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[Insert loss plot here]</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Final training accuracy: 87.8392%</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Final validation accuracy: 87.667%</a:t>
            </a:r>
            <a:endParaRPr sz="1400" b="0" i="0" u="none" strike="noStrike" cap="none" dirty="0">
              <a:solidFill>
                <a:srgbClr val="000000"/>
              </a:solidFill>
              <a:latin typeface="Arial"/>
              <a:ea typeface="Arial"/>
              <a:cs typeface="Arial"/>
              <a:sym typeface="Arial"/>
            </a:endParaRPr>
          </a:p>
        </p:txBody>
      </p:sp>
      <p:sp>
        <p:nvSpPr>
          <p:cNvPr id="124" name="Google Shape;124;p25"/>
          <p:cNvSpPr txBox="1">
            <a:spLocks noGrp="1"/>
          </p:cNvSpPr>
          <p:nvPr>
            <p:ph type="body" idx="1"/>
          </p:nvPr>
        </p:nvSpPr>
        <p:spPr>
          <a:xfrm>
            <a:off x="4832280" y="115236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a:solidFill>
                  <a:schemeClr val="dk2"/>
                </a:solidFill>
                <a:latin typeface="Arial"/>
                <a:ea typeface="Arial"/>
                <a:cs typeface="Arial"/>
                <a:sym typeface="Arial"/>
              </a:rPr>
              <a:t>[Insert accuracy plot here]</a:t>
            </a:r>
            <a:endParaRPr sz="1400" b="0" i="0" u="none" strike="noStrike" cap="none">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BEE658F2-E589-8043-B60E-2380B621F3B7}"/>
              </a:ext>
            </a:extLst>
          </p:cNvPr>
          <p:cNvPicPr>
            <a:picLocks noChangeAspect="1"/>
          </p:cNvPicPr>
          <p:nvPr/>
        </p:nvPicPr>
        <p:blipFill>
          <a:blip r:embed="rId3"/>
          <a:stretch>
            <a:fillRect/>
          </a:stretch>
        </p:blipFill>
        <p:spPr>
          <a:xfrm>
            <a:off x="311760" y="1565952"/>
            <a:ext cx="2518945" cy="2011596"/>
          </a:xfrm>
          <a:prstGeom prst="rect">
            <a:avLst/>
          </a:prstGeom>
        </p:spPr>
      </p:pic>
      <p:pic>
        <p:nvPicPr>
          <p:cNvPr id="3" name="Picture 2">
            <a:extLst>
              <a:ext uri="{FF2B5EF4-FFF2-40B4-BE49-F238E27FC236}">
                <a16:creationId xmlns:a16="http://schemas.microsoft.com/office/drawing/2014/main" id="{FC46774A-8405-D445-ACAC-1B2A66FB34A3}"/>
              </a:ext>
            </a:extLst>
          </p:cNvPr>
          <p:cNvPicPr>
            <a:picLocks noChangeAspect="1"/>
          </p:cNvPicPr>
          <p:nvPr/>
        </p:nvPicPr>
        <p:blipFill>
          <a:blip r:embed="rId4"/>
          <a:stretch>
            <a:fillRect/>
          </a:stretch>
        </p:blipFill>
        <p:spPr>
          <a:xfrm>
            <a:off x="4575426" y="1565952"/>
            <a:ext cx="3657600" cy="287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6"/>
          <p:cNvSpPr txBox="1">
            <a:spLocks noGrp="1"/>
          </p:cNvSpPr>
          <p:nvPr>
            <p:ph type="title"/>
          </p:nvPr>
        </p:nvSpPr>
        <p:spPr>
          <a:xfrm>
            <a:off x="311760" y="59949"/>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dirty="0">
                <a:solidFill>
                  <a:schemeClr val="dk1"/>
                </a:solidFill>
                <a:latin typeface="Arial"/>
                <a:ea typeface="Arial"/>
                <a:cs typeface="Arial"/>
                <a:sym typeface="Arial"/>
              </a:rPr>
              <a:t>Part 3: </a:t>
            </a:r>
            <a:r>
              <a:rPr lang="en" sz="2800" b="0" strike="noStrike" dirty="0" err="1">
                <a:solidFill>
                  <a:schemeClr val="dk1"/>
                </a:solidFill>
                <a:latin typeface="Arial"/>
                <a:ea typeface="Arial"/>
                <a:cs typeface="Arial"/>
                <a:sym typeface="Arial"/>
              </a:rPr>
              <a:t>ResNet</a:t>
            </a:r>
            <a:endParaRPr sz="2800" b="0" strike="noStrike" dirty="0">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8B39E6D8-FE60-EC4B-B66E-64AD6A8564B3}"/>
              </a:ext>
            </a:extLst>
          </p:cNvPr>
          <p:cNvPicPr>
            <a:picLocks noChangeAspect="1"/>
          </p:cNvPicPr>
          <p:nvPr/>
        </p:nvPicPr>
        <p:blipFill>
          <a:blip r:embed="rId3"/>
          <a:stretch>
            <a:fillRect/>
          </a:stretch>
        </p:blipFill>
        <p:spPr>
          <a:xfrm>
            <a:off x="1684422" y="567429"/>
            <a:ext cx="4555957" cy="45760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7"/>
          <p:cNvSpPr txBox="1">
            <a:spLocks noGrp="1"/>
          </p:cNvSpPr>
          <p:nvPr>
            <p:ph type="title"/>
          </p:nvPr>
        </p:nvSpPr>
        <p:spPr>
          <a:xfrm>
            <a:off x="311760" y="200594"/>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dirty="0">
                <a:solidFill>
                  <a:schemeClr val="dk1"/>
                </a:solidFill>
                <a:latin typeface="Arial"/>
                <a:ea typeface="Arial"/>
                <a:cs typeface="Arial"/>
                <a:sym typeface="Arial"/>
              </a:rPr>
              <a:t>Part 3: </a:t>
            </a:r>
            <a:r>
              <a:rPr lang="en" sz="2800" b="0" strike="noStrike" dirty="0" err="1">
                <a:solidFill>
                  <a:schemeClr val="dk1"/>
                </a:solidFill>
                <a:latin typeface="Arial"/>
                <a:ea typeface="Arial"/>
                <a:cs typeface="Arial"/>
                <a:sym typeface="Arial"/>
              </a:rPr>
              <a:t>ResNet</a:t>
            </a:r>
            <a:endParaRPr sz="2800" b="0" strike="noStrike" dirty="0">
              <a:solidFill>
                <a:srgbClr val="000000"/>
              </a:solidFill>
              <a:latin typeface="Arial"/>
              <a:ea typeface="Arial"/>
              <a:cs typeface="Arial"/>
              <a:sym typeface="Arial"/>
            </a:endParaRPr>
          </a:p>
        </p:txBody>
      </p:sp>
      <p:sp>
        <p:nvSpPr>
          <p:cNvPr id="136" name="Google Shape;136;p27"/>
          <p:cNvSpPr txBox="1">
            <a:spLocks noGrp="1"/>
          </p:cNvSpPr>
          <p:nvPr>
            <p:ph type="body" idx="1"/>
          </p:nvPr>
        </p:nvSpPr>
        <p:spPr>
          <a:xfrm>
            <a:off x="311760" y="772994"/>
            <a:ext cx="8520120" cy="3795406"/>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IN" sz="1200" b="0" i="0" u="none" strike="noStrike" cap="none" dirty="0">
                <a:solidFill>
                  <a:srgbClr val="000000"/>
                </a:solidFill>
                <a:latin typeface="Arial"/>
                <a:ea typeface="Arial"/>
                <a:cs typeface="Arial"/>
                <a:sym typeface="Arial"/>
              </a:rPr>
              <a:t>This misclassification of predicting living room for what is actually a bedroom might’ve happened due to similarities in the visual and contextual space of the </a:t>
            </a:r>
            <a:r>
              <a:rPr lang="en-IN" sz="1200" b="0" i="0" u="none" strike="noStrike" cap="none" dirty="0" err="1">
                <a:solidFill>
                  <a:srgbClr val="000000"/>
                </a:solidFill>
                <a:latin typeface="Arial"/>
                <a:ea typeface="Arial"/>
                <a:cs typeface="Arial"/>
                <a:sym typeface="Arial"/>
              </a:rPr>
              <a:t>ResNet</a:t>
            </a:r>
            <a:r>
              <a:rPr lang="en-IN" sz="1200" b="0" i="0" u="none" strike="noStrike" cap="none" dirty="0">
                <a:solidFill>
                  <a:srgbClr val="000000"/>
                </a:solidFill>
                <a:latin typeface="Arial"/>
                <a:ea typeface="Arial"/>
                <a:cs typeface="Arial"/>
                <a:sym typeface="Arial"/>
              </a:rPr>
              <a:t> model. Both often contain similar kind of furniture, with common objects like chairs, tables, and lamps. From the model’s perspective, the learned features of textures and shapes in both these classes are alike to an extent that it can struggle to find subtle characteristics that differentiate the two.</a:t>
            </a:r>
          </a:p>
        </p:txBody>
      </p:sp>
      <p:pic>
        <p:nvPicPr>
          <p:cNvPr id="2" name="Picture 1">
            <a:extLst>
              <a:ext uri="{FF2B5EF4-FFF2-40B4-BE49-F238E27FC236}">
                <a16:creationId xmlns:a16="http://schemas.microsoft.com/office/drawing/2014/main" id="{8149C08C-C7BE-2348-A9B5-773173223092}"/>
              </a:ext>
            </a:extLst>
          </p:cNvPr>
          <p:cNvPicPr>
            <a:picLocks noChangeAspect="1"/>
          </p:cNvPicPr>
          <p:nvPr/>
        </p:nvPicPr>
        <p:blipFill>
          <a:blip r:embed="rId3"/>
          <a:stretch>
            <a:fillRect/>
          </a:stretch>
        </p:blipFill>
        <p:spPr>
          <a:xfrm>
            <a:off x="663430" y="1883979"/>
            <a:ext cx="7816780" cy="260559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8"/>
          <p:cNvSpPr txBox="1">
            <a:spLocks noGrp="1"/>
          </p:cNvSpPr>
          <p:nvPr>
            <p:ph type="title"/>
          </p:nvPr>
        </p:nvSpPr>
        <p:spPr>
          <a:xfrm>
            <a:off x="311760" y="444960"/>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dirty="0">
                <a:solidFill>
                  <a:schemeClr val="dk1"/>
                </a:solidFill>
                <a:latin typeface="Arial"/>
                <a:ea typeface="Arial"/>
                <a:cs typeface="Arial"/>
                <a:sym typeface="Arial"/>
              </a:rPr>
              <a:t>Part 3: </a:t>
            </a:r>
            <a:r>
              <a:rPr lang="en" sz="2800" b="0" strike="noStrike" dirty="0" err="1">
                <a:solidFill>
                  <a:schemeClr val="dk1"/>
                </a:solidFill>
                <a:latin typeface="Arial"/>
                <a:ea typeface="Arial"/>
                <a:cs typeface="Arial"/>
                <a:sym typeface="Arial"/>
              </a:rPr>
              <a:t>ResNet</a:t>
            </a:r>
            <a:endParaRPr sz="2800" b="0" strike="noStrike" dirty="0">
              <a:solidFill>
                <a:srgbClr val="000000"/>
              </a:solidFill>
              <a:latin typeface="Arial"/>
              <a:ea typeface="Arial"/>
              <a:cs typeface="Arial"/>
              <a:sym typeface="Arial"/>
            </a:endParaRPr>
          </a:p>
        </p:txBody>
      </p:sp>
      <p:sp>
        <p:nvSpPr>
          <p:cNvPr id="142" name="Google Shape;142;p28"/>
          <p:cNvSpPr txBox="1">
            <a:spLocks noGrp="1"/>
          </p:cNvSpPr>
          <p:nvPr>
            <p:ph type="body" idx="1"/>
          </p:nvPr>
        </p:nvSpPr>
        <p:spPr>
          <a:xfrm>
            <a:off x="311760" y="115236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[What does fine-tuning a network mean?]</a:t>
            </a:r>
          </a:p>
          <a:p>
            <a:pPr marL="0" marR="0" lvl="0" indent="0" algn="l" rtl="0">
              <a:lnSpc>
                <a:spcPct val="115000"/>
              </a:lnSpc>
              <a:spcBef>
                <a:spcPts val="0"/>
              </a:spcBef>
              <a:spcAft>
                <a:spcPts val="0"/>
              </a:spcAft>
              <a:buClr>
                <a:schemeClr val="dk2"/>
              </a:buClr>
              <a:buSzPts val="1400"/>
              <a:buFont typeface="Arial"/>
              <a:buNone/>
            </a:pPr>
            <a:endParaRPr lang="en" sz="1400" dirty="0">
              <a:solidFill>
                <a:schemeClr val="dk2"/>
              </a:solidFill>
            </a:endParaRPr>
          </a:p>
          <a:p>
            <a:pPr marL="0" marR="0" lvl="0" indent="0" algn="l" rtl="0">
              <a:lnSpc>
                <a:spcPct val="115000"/>
              </a:lnSpc>
              <a:spcBef>
                <a:spcPts val="0"/>
              </a:spcBef>
              <a:spcAft>
                <a:spcPts val="0"/>
              </a:spcAft>
              <a:buClr>
                <a:schemeClr val="dk2"/>
              </a:buClr>
              <a:buSzPts val="1400"/>
              <a:buFont typeface="Arial"/>
              <a:buNone/>
            </a:pPr>
            <a:r>
              <a:rPr lang="en" sz="1200" b="0" i="0" u="none" strike="noStrike" cap="none" dirty="0">
                <a:solidFill>
                  <a:schemeClr val="tx1"/>
                </a:solidFill>
                <a:latin typeface="Arial"/>
                <a:ea typeface="Arial"/>
                <a:cs typeface="Arial"/>
                <a:sym typeface="Arial"/>
              </a:rPr>
              <a:t>Fine-tuning is a transfer learning technique where we take a neural network that’s already been trained on a large dataset, and adapt it for a new and specific task. This allows fo</a:t>
            </a:r>
            <a:r>
              <a:rPr lang="en" sz="1200" dirty="0">
                <a:solidFill>
                  <a:schemeClr val="tx1"/>
                </a:solidFill>
              </a:rPr>
              <a:t>r us to train from a good and knowledgeable starting point, rather than having to train a model from scratch for every task. In summary, its re-training a pre-trained model on a smaller, more focused dataset to adapt its general knowledge to a specific task or domain, allowing a model to leverage its existing capabilities while becoming more accurate and specialized for a particular use case. </a:t>
            </a:r>
            <a:endParaRPr sz="1200" b="0" i="0" u="none" strike="noStrike" cap="none" dirty="0">
              <a:solidFill>
                <a:schemeClr val="tx1"/>
              </a:solidFill>
              <a:latin typeface="Arial"/>
              <a:ea typeface="Arial"/>
              <a:cs typeface="Arial"/>
              <a:sym typeface="Arial"/>
            </a:endParaRPr>
          </a:p>
        </p:txBody>
      </p:sp>
      <p:sp>
        <p:nvSpPr>
          <p:cNvPr id="143" name="Google Shape;143;p28"/>
          <p:cNvSpPr txBox="1">
            <a:spLocks noGrp="1"/>
          </p:cNvSpPr>
          <p:nvPr>
            <p:ph type="body" idx="1"/>
          </p:nvPr>
        </p:nvSpPr>
        <p:spPr>
          <a:xfrm>
            <a:off x="4832280" y="115236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[Why do we want to "freeze" the conv layers and some of the linear layers from a pre-trained </a:t>
            </a:r>
            <a:r>
              <a:rPr lang="en" sz="1400" b="0" i="0" u="none" strike="noStrike" cap="none" dirty="0" err="1">
                <a:solidFill>
                  <a:schemeClr val="dk2"/>
                </a:solidFill>
                <a:latin typeface="Arial"/>
                <a:ea typeface="Arial"/>
                <a:cs typeface="Arial"/>
                <a:sym typeface="Arial"/>
              </a:rPr>
              <a:t>ResNet</a:t>
            </a:r>
            <a:r>
              <a:rPr lang="en" sz="1400" b="0" i="0" u="none" strike="noStrike" cap="none" dirty="0">
                <a:solidFill>
                  <a:schemeClr val="dk2"/>
                </a:solidFill>
                <a:latin typeface="Arial"/>
                <a:ea typeface="Arial"/>
                <a:cs typeface="Arial"/>
                <a:sym typeface="Arial"/>
              </a:rPr>
              <a:t>? Why can we do this?]</a:t>
            </a:r>
          </a:p>
          <a:p>
            <a:pPr marL="0" marR="0" lvl="0" indent="0" algn="l" rtl="0">
              <a:lnSpc>
                <a:spcPct val="115000"/>
              </a:lnSpc>
              <a:spcBef>
                <a:spcPts val="0"/>
              </a:spcBef>
              <a:spcAft>
                <a:spcPts val="0"/>
              </a:spcAft>
              <a:buClr>
                <a:schemeClr val="dk2"/>
              </a:buClr>
              <a:buSzPts val="1400"/>
              <a:buFont typeface="Arial"/>
              <a:buNone/>
            </a:pPr>
            <a:endParaRPr lang="en" sz="1400" dirty="0">
              <a:solidFill>
                <a:schemeClr val="dk2"/>
              </a:solidFill>
            </a:endParaRPr>
          </a:p>
          <a:p>
            <a:pPr marL="0" marR="0" lvl="0" indent="0" algn="l" rtl="0">
              <a:lnSpc>
                <a:spcPct val="115000"/>
              </a:lnSpc>
              <a:spcBef>
                <a:spcPts val="0"/>
              </a:spcBef>
              <a:spcAft>
                <a:spcPts val="0"/>
              </a:spcAft>
              <a:buClr>
                <a:schemeClr val="dk2"/>
              </a:buClr>
              <a:buSzPts val="1400"/>
              <a:buFont typeface="Arial"/>
              <a:buNone/>
            </a:pPr>
            <a:r>
              <a:rPr lang="en" sz="1200" b="0" i="0" u="none" strike="noStrike" cap="none" dirty="0">
                <a:solidFill>
                  <a:schemeClr val="tx1"/>
                </a:solidFill>
                <a:latin typeface="Arial"/>
                <a:ea typeface="Arial"/>
                <a:cs typeface="Arial"/>
                <a:sym typeface="Arial"/>
              </a:rPr>
              <a:t>We freeze the conv layers of a pre-trained </a:t>
            </a:r>
            <a:r>
              <a:rPr lang="en" sz="1200" b="0" i="0" u="none" strike="noStrike" cap="none" dirty="0" err="1">
                <a:solidFill>
                  <a:schemeClr val="tx1"/>
                </a:solidFill>
                <a:latin typeface="Arial"/>
                <a:ea typeface="Arial"/>
                <a:cs typeface="Arial"/>
                <a:sym typeface="Arial"/>
              </a:rPr>
              <a:t>ResNet</a:t>
            </a:r>
            <a:r>
              <a:rPr lang="en" sz="1200" dirty="0">
                <a:solidFill>
                  <a:schemeClr val="tx1"/>
                </a:solidFill>
              </a:rPr>
              <a:t> to preserve and leverage the understanding of the general visual knowledge already contained in the network. This allows us to reduce the number of trainable parameters, while also preventing over-fitting on small datasets. This </a:t>
            </a:r>
            <a:r>
              <a:rPr lang="en" sz="1200" dirty="0" err="1">
                <a:solidFill>
                  <a:schemeClr val="tx1"/>
                </a:solidFill>
              </a:rPr>
              <a:t>strateg</a:t>
            </a:r>
            <a:r>
              <a:rPr lang="en-IN" sz="1200" dirty="0">
                <a:solidFill>
                  <a:schemeClr val="tx1"/>
                </a:solidFill>
              </a:rPr>
              <a:t>y</a:t>
            </a:r>
            <a:r>
              <a:rPr lang="en" sz="1200" dirty="0">
                <a:solidFill>
                  <a:schemeClr val="tx1"/>
                </a:solidFill>
              </a:rPr>
              <a:t> is also effective because we can transfer the understanding learnt by the early conv layers, like edges and textures, to our task. Therefore, we only need to train the final task-specific layers, to just learn how to combine the understandings from the early layers into our classification problem.</a:t>
            </a:r>
            <a:endParaRPr sz="1400" b="0" i="0" u="none" strike="noStrike" cap="none" dirty="0">
              <a:solidFill>
                <a:schemeClr val="tx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9"/>
          <p:cNvSpPr txBox="1">
            <a:spLocks noGrp="1"/>
          </p:cNvSpPr>
          <p:nvPr>
            <p:ph type="title"/>
          </p:nvPr>
        </p:nvSpPr>
        <p:spPr>
          <a:xfrm>
            <a:off x="311760" y="444960"/>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dirty="0">
                <a:solidFill>
                  <a:schemeClr val="dk1"/>
                </a:solidFill>
                <a:latin typeface="Arial"/>
                <a:ea typeface="Arial"/>
                <a:cs typeface="Arial"/>
                <a:sym typeface="Arial"/>
              </a:rPr>
              <a:t>Part 4: Multi-label Scene Attributes </a:t>
            </a:r>
            <a:r>
              <a:rPr lang="en-US" sz="2800" b="0" strike="noStrike" dirty="0">
                <a:solidFill>
                  <a:schemeClr val="dk1"/>
                </a:solidFill>
                <a:latin typeface="Arial"/>
                <a:ea typeface="Arial"/>
                <a:cs typeface="Arial"/>
                <a:sym typeface="Arial"/>
              </a:rPr>
              <a:t>(Extra Credit)</a:t>
            </a:r>
            <a:endParaRPr sz="2800" b="0" strike="noStrike" dirty="0">
              <a:solidFill>
                <a:srgbClr val="000000"/>
              </a:solidFill>
              <a:latin typeface="Arial"/>
              <a:ea typeface="Arial"/>
              <a:cs typeface="Arial"/>
              <a:sym typeface="Arial"/>
            </a:endParaRPr>
          </a:p>
        </p:txBody>
      </p:sp>
      <p:sp>
        <p:nvSpPr>
          <p:cNvPr id="149" name="Google Shape;149;p29"/>
          <p:cNvSpPr txBox="1">
            <a:spLocks noGrp="1"/>
          </p:cNvSpPr>
          <p:nvPr>
            <p:ph type="body" idx="1"/>
          </p:nvPr>
        </p:nvSpPr>
        <p:spPr>
          <a:xfrm>
            <a:off x="311760" y="115236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[Insert loss plot here]</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Final training accuracy: 91.3401%</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Final validation accuracy: 91.1428%</a:t>
            </a:r>
            <a:endParaRPr sz="1400" b="0" i="0" u="none" strike="noStrike" cap="none" dirty="0">
              <a:solidFill>
                <a:srgbClr val="000000"/>
              </a:solidFill>
              <a:latin typeface="Arial"/>
              <a:ea typeface="Arial"/>
              <a:cs typeface="Arial"/>
              <a:sym typeface="Arial"/>
            </a:endParaRPr>
          </a:p>
        </p:txBody>
      </p:sp>
      <p:sp>
        <p:nvSpPr>
          <p:cNvPr id="150" name="Google Shape;150;p29"/>
          <p:cNvSpPr txBox="1">
            <a:spLocks noGrp="1"/>
          </p:cNvSpPr>
          <p:nvPr>
            <p:ph type="body" idx="1"/>
          </p:nvPr>
        </p:nvSpPr>
        <p:spPr>
          <a:xfrm>
            <a:off x="4832280" y="115236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[Insert accuracy plot here]</a:t>
            </a:r>
            <a:endParaRPr sz="1400" b="0" i="0" u="none" strike="noStrike" cap="none" dirty="0">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69A6BED5-0AA9-E34F-993F-07756DC34FFC}"/>
              </a:ext>
            </a:extLst>
          </p:cNvPr>
          <p:cNvPicPr>
            <a:picLocks noChangeAspect="1"/>
          </p:cNvPicPr>
          <p:nvPr/>
        </p:nvPicPr>
        <p:blipFill>
          <a:blip r:embed="rId3"/>
          <a:stretch>
            <a:fillRect/>
          </a:stretch>
        </p:blipFill>
        <p:spPr>
          <a:xfrm>
            <a:off x="401053" y="1017360"/>
            <a:ext cx="3144252" cy="2467364"/>
          </a:xfrm>
          <a:prstGeom prst="rect">
            <a:avLst/>
          </a:prstGeom>
        </p:spPr>
      </p:pic>
      <p:pic>
        <p:nvPicPr>
          <p:cNvPr id="3" name="Picture 2">
            <a:extLst>
              <a:ext uri="{FF2B5EF4-FFF2-40B4-BE49-F238E27FC236}">
                <a16:creationId xmlns:a16="http://schemas.microsoft.com/office/drawing/2014/main" id="{983D5449-7E6B-274B-90ED-EF20A456CFBC}"/>
              </a:ext>
            </a:extLst>
          </p:cNvPr>
          <p:cNvPicPr>
            <a:picLocks noChangeAspect="1"/>
          </p:cNvPicPr>
          <p:nvPr/>
        </p:nvPicPr>
        <p:blipFill>
          <a:blip r:embed="rId4"/>
          <a:stretch>
            <a:fillRect/>
          </a:stretch>
        </p:blipFill>
        <p:spPr>
          <a:xfrm>
            <a:off x="4832280" y="1120940"/>
            <a:ext cx="3708400" cy="287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0"/>
          <p:cNvSpPr txBox="1">
            <a:spLocks noGrp="1"/>
          </p:cNvSpPr>
          <p:nvPr>
            <p:ph type="title"/>
          </p:nvPr>
        </p:nvSpPr>
        <p:spPr>
          <a:xfrm>
            <a:off x="311760" y="444960"/>
            <a:ext cx="8520120" cy="572400"/>
          </a:xfrm>
          <a:prstGeom prst="rect">
            <a:avLst/>
          </a:prstGeom>
          <a:noFill/>
          <a:ln>
            <a:noFill/>
          </a:ln>
        </p:spPr>
        <p:txBody>
          <a:bodyPr spcFirstLastPara="1" wrap="square" lIns="91425" tIns="91425" rIns="91425" bIns="91425" anchor="t" anchorCtr="0">
            <a:noAutofit/>
          </a:bodyPr>
          <a:lstStyle/>
          <a:p>
            <a:pPr lvl="0">
              <a:lnSpc>
                <a:spcPct val="100000"/>
              </a:lnSpc>
              <a:buSzPts val="2800"/>
            </a:pPr>
            <a:r>
              <a:rPr lang="en" sz="2800" b="0" strike="noStrike" dirty="0">
                <a:solidFill>
                  <a:schemeClr val="dk1"/>
                </a:solidFill>
                <a:latin typeface="Arial"/>
                <a:ea typeface="Arial"/>
                <a:cs typeface="Arial"/>
                <a:sym typeface="Arial"/>
              </a:rPr>
              <a:t>Part 4: Multi-label Scene Attributes </a:t>
            </a:r>
            <a:r>
              <a:rPr lang="en-US" sz="2800" dirty="0"/>
              <a:t>(Extra Credit)</a:t>
            </a:r>
            <a:endParaRPr sz="2800" b="0" strike="noStrike" dirty="0">
              <a:solidFill>
                <a:srgbClr val="000000"/>
              </a:solidFill>
              <a:latin typeface="Arial"/>
              <a:ea typeface="Arial"/>
              <a:cs typeface="Arial"/>
              <a:sym typeface="Arial"/>
            </a:endParaRPr>
          </a:p>
        </p:txBody>
      </p:sp>
      <p:sp>
        <p:nvSpPr>
          <p:cNvPr id="156" name="Google Shape;156;p30"/>
          <p:cNvSpPr txBox="1">
            <a:spLocks noGrp="1"/>
          </p:cNvSpPr>
          <p:nvPr>
            <p:ph type="body" idx="1"/>
          </p:nvPr>
        </p:nvSpPr>
        <p:spPr>
          <a:xfrm>
            <a:off x="311760" y="1152360"/>
            <a:ext cx="852012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 sz="1800" b="0" i="0" u="none" strike="noStrike" cap="none">
                <a:solidFill>
                  <a:schemeClr val="dk2"/>
                </a:solidFill>
                <a:latin typeface="Arial"/>
                <a:ea typeface="Arial"/>
                <a:cs typeface="Arial"/>
                <a:sym typeface="Arial"/>
              </a:rPr>
              <a:t>[Insert visualization of accuracy table obtained from your final MultilabelResNet model.]</a:t>
            </a:r>
            <a:endParaRPr sz="1800" b="0" i="0" u="none" strike="noStrike" cap="none">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910C3449-38CF-5B40-BD2E-20815F8B93B8}"/>
              </a:ext>
            </a:extLst>
          </p:cNvPr>
          <p:cNvPicPr>
            <a:picLocks noChangeAspect="1"/>
          </p:cNvPicPr>
          <p:nvPr/>
        </p:nvPicPr>
        <p:blipFill>
          <a:blip r:embed="rId3"/>
          <a:stretch>
            <a:fillRect/>
          </a:stretch>
        </p:blipFill>
        <p:spPr>
          <a:xfrm>
            <a:off x="379997" y="1803400"/>
            <a:ext cx="7756533" cy="21877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1"/>
          <p:cNvSpPr txBox="1">
            <a:spLocks noGrp="1"/>
          </p:cNvSpPr>
          <p:nvPr>
            <p:ph type="title"/>
          </p:nvPr>
        </p:nvSpPr>
        <p:spPr>
          <a:xfrm>
            <a:off x="311760" y="444960"/>
            <a:ext cx="8520120" cy="572400"/>
          </a:xfrm>
          <a:prstGeom prst="rect">
            <a:avLst/>
          </a:prstGeom>
          <a:noFill/>
          <a:ln>
            <a:noFill/>
          </a:ln>
        </p:spPr>
        <p:txBody>
          <a:bodyPr spcFirstLastPara="1" wrap="square" lIns="91425" tIns="91425" rIns="91425" bIns="91425" anchor="t" anchorCtr="0">
            <a:noAutofit/>
          </a:bodyPr>
          <a:lstStyle/>
          <a:p>
            <a:pPr lvl="0">
              <a:lnSpc>
                <a:spcPct val="100000"/>
              </a:lnSpc>
              <a:buSzPts val="2800"/>
            </a:pPr>
            <a:r>
              <a:rPr lang="en" sz="2800" b="0" strike="noStrike" dirty="0">
                <a:solidFill>
                  <a:schemeClr val="dk1"/>
                </a:solidFill>
                <a:latin typeface="Arial"/>
                <a:ea typeface="Arial"/>
                <a:cs typeface="Arial"/>
                <a:sym typeface="Arial"/>
              </a:rPr>
              <a:t>Part 4: Multi-label Scene Attributes </a:t>
            </a:r>
            <a:r>
              <a:rPr lang="en-US" sz="2800" dirty="0"/>
              <a:t>(Extra Credit)</a:t>
            </a:r>
            <a:endParaRPr sz="2800" b="0" strike="noStrike" dirty="0">
              <a:solidFill>
                <a:srgbClr val="000000"/>
              </a:solidFill>
              <a:latin typeface="Arial"/>
              <a:ea typeface="Arial"/>
              <a:cs typeface="Arial"/>
              <a:sym typeface="Arial"/>
            </a:endParaRPr>
          </a:p>
        </p:txBody>
      </p:sp>
      <p:sp>
        <p:nvSpPr>
          <p:cNvPr id="162" name="Google Shape;162;p31"/>
          <p:cNvSpPr txBox="1">
            <a:spLocks noGrp="1"/>
          </p:cNvSpPr>
          <p:nvPr>
            <p:ph type="body" idx="1"/>
          </p:nvPr>
        </p:nvSpPr>
        <p:spPr>
          <a:xfrm>
            <a:off x="311760" y="115236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[List 3 changes that you made in the network compared to the one in part 3.]</a:t>
            </a:r>
          </a:p>
          <a:p>
            <a:pPr marL="0" marR="0" lvl="0" indent="0" algn="l" rtl="0">
              <a:lnSpc>
                <a:spcPct val="115000"/>
              </a:lnSpc>
              <a:spcBef>
                <a:spcPts val="0"/>
              </a:spcBef>
              <a:spcAft>
                <a:spcPts val="0"/>
              </a:spcAft>
              <a:buClr>
                <a:schemeClr val="dk2"/>
              </a:buClr>
              <a:buSzPts val="1400"/>
              <a:buFont typeface="Arial"/>
              <a:buNone/>
            </a:pPr>
            <a:endParaRPr lang="en" sz="1400" dirty="0">
              <a:solidFill>
                <a:schemeClr val="dk2"/>
              </a:solidFil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tx1"/>
                </a:solidFill>
                <a:latin typeface="Arial"/>
                <a:ea typeface="Arial"/>
                <a:cs typeface="Arial"/>
                <a:sym typeface="Arial"/>
              </a:rPr>
              <a:t>The final fully connected layer of this network has 7 output neurons, for the 7 classes / scene attributes instead of 15(in </a:t>
            </a:r>
            <a:r>
              <a:rPr lang="en-IN" sz="1400" dirty="0">
                <a:solidFill>
                  <a:schemeClr val="tx1"/>
                </a:solidFill>
              </a:rPr>
              <a:t>the</a:t>
            </a:r>
            <a:r>
              <a:rPr lang="en" sz="1400" b="0" i="0" u="none" strike="noStrike" cap="none" dirty="0">
                <a:solidFill>
                  <a:schemeClr val="tx1"/>
                </a:solidFill>
                <a:latin typeface="Arial"/>
                <a:ea typeface="Arial"/>
                <a:cs typeface="Arial"/>
                <a:sym typeface="Arial"/>
              </a:rPr>
              <a:t> </a:t>
            </a:r>
            <a:r>
              <a:rPr lang="en" sz="1400" b="0" i="0" u="none" strike="noStrike" cap="none" dirty="0" err="1">
                <a:solidFill>
                  <a:schemeClr val="tx1"/>
                </a:solidFill>
                <a:latin typeface="Arial"/>
                <a:ea typeface="Arial"/>
                <a:cs typeface="Arial"/>
                <a:sym typeface="Arial"/>
              </a:rPr>
              <a:t>ResNet</a:t>
            </a:r>
            <a:r>
              <a:rPr lang="en" sz="1400" b="0" i="0" u="none" strike="noStrike" cap="none" dirty="0">
                <a:solidFill>
                  <a:schemeClr val="tx1"/>
                </a:solidFill>
                <a:latin typeface="Arial"/>
                <a:ea typeface="Arial"/>
                <a:cs typeface="Arial"/>
                <a:sym typeface="Arial"/>
              </a:rPr>
              <a:t> from part 3</a:t>
            </a:r>
            <a:r>
              <a:rPr lang="en" sz="1400" dirty="0">
                <a:solidFill>
                  <a:schemeClr val="tx1"/>
                </a:solidFill>
              </a:rPr>
              <a:t>). The loss function in this is </a:t>
            </a:r>
            <a:r>
              <a:rPr lang="en" sz="1400" dirty="0" err="1">
                <a:solidFill>
                  <a:schemeClr val="tx1"/>
                </a:solidFill>
              </a:rPr>
              <a:t>BCEWithLogitsLoss</a:t>
            </a:r>
            <a:r>
              <a:rPr lang="en" sz="1400" dirty="0">
                <a:solidFill>
                  <a:schemeClr val="tx1"/>
                </a:solidFill>
              </a:rPr>
              <a:t>, unlike the Resnet from part 3 which used </a:t>
            </a:r>
            <a:r>
              <a:rPr lang="en" sz="1400" dirty="0" err="1">
                <a:solidFill>
                  <a:schemeClr val="tx1"/>
                </a:solidFill>
              </a:rPr>
              <a:t>CrossEntropy</a:t>
            </a:r>
            <a:r>
              <a:rPr lang="en" sz="1400" dirty="0">
                <a:solidFill>
                  <a:schemeClr val="tx1"/>
                </a:solidFill>
              </a:rPr>
              <a:t>. We also explicitly use a Sigmoid activation function in Part 4, which is different from the usage of </a:t>
            </a:r>
            <a:r>
              <a:rPr lang="en" sz="1400" dirty="0" err="1">
                <a:solidFill>
                  <a:schemeClr val="tx1"/>
                </a:solidFill>
              </a:rPr>
              <a:t>softmax</a:t>
            </a:r>
            <a:r>
              <a:rPr lang="en" sz="1400" dirty="0">
                <a:solidFill>
                  <a:schemeClr val="tx1"/>
                </a:solidFill>
              </a:rPr>
              <a:t> in part 3. </a:t>
            </a:r>
            <a:endParaRPr sz="1400" b="0" i="0" u="none" strike="noStrike" cap="none" dirty="0">
              <a:solidFill>
                <a:schemeClr val="tx1"/>
              </a:solidFill>
              <a:latin typeface="Arial"/>
              <a:ea typeface="Arial"/>
              <a:cs typeface="Arial"/>
              <a:sym typeface="Arial"/>
            </a:endParaRPr>
          </a:p>
        </p:txBody>
      </p:sp>
      <p:sp>
        <p:nvSpPr>
          <p:cNvPr id="163" name="Google Shape;163;p31"/>
          <p:cNvSpPr txBox="1">
            <a:spLocks noGrp="1"/>
          </p:cNvSpPr>
          <p:nvPr>
            <p:ph type="body" idx="1"/>
          </p:nvPr>
        </p:nvSpPr>
        <p:spPr>
          <a:xfrm>
            <a:off x="4832280" y="115236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[Is the loss function of the </a:t>
            </a:r>
            <a:r>
              <a:rPr lang="en" sz="1400" b="0" i="0" u="none" strike="noStrike" cap="none" dirty="0" err="1">
                <a:solidFill>
                  <a:schemeClr val="dk2"/>
                </a:solidFill>
                <a:latin typeface="Arial"/>
                <a:ea typeface="Arial"/>
                <a:cs typeface="Arial"/>
                <a:sym typeface="Arial"/>
              </a:rPr>
              <a:t>ResNet</a:t>
            </a:r>
            <a:r>
              <a:rPr lang="en" sz="1400" b="0" i="0" u="none" strike="noStrike" cap="none" dirty="0">
                <a:solidFill>
                  <a:schemeClr val="dk2"/>
                </a:solidFill>
                <a:latin typeface="Arial"/>
                <a:ea typeface="Arial"/>
                <a:cs typeface="Arial"/>
                <a:sym typeface="Arial"/>
              </a:rPr>
              <a:t> model from part 3 appropriate for this problem? Why or why not?]</a:t>
            </a:r>
          </a:p>
          <a:p>
            <a:pPr marL="0" marR="0" lvl="0" indent="0" algn="l" rtl="0">
              <a:lnSpc>
                <a:spcPct val="115000"/>
              </a:lnSpc>
              <a:spcBef>
                <a:spcPts val="0"/>
              </a:spcBef>
              <a:spcAft>
                <a:spcPts val="0"/>
              </a:spcAft>
              <a:buClr>
                <a:schemeClr val="dk2"/>
              </a:buClr>
              <a:buSzPts val="1400"/>
              <a:buFont typeface="Arial"/>
              <a:buNone/>
            </a:pPr>
            <a:endParaRPr lang="en" sz="1400" dirty="0">
              <a:solidFill>
                <a:srgbClr val="000000"/>
              </a:solidFill>
            </a:endParaRPr>
          </a:p>
          <a:p>
            <a:pPr marL="0" marR="0" lvl="0" indent="0" algn="l" rtl="0">
              <a:lnSpc>
                <a:spcPct val="115000"/>
              </a:lnSpc>
              <a:spcBef>
                <a:spcPts val="0"/>
              </a:spcBef>
              <a:spcAft>
                <a:spcPts val="0"/>
              </a:spcAft>
              <a:buClr>
                <a:schemeClr val="dk2"/>
              </a:buClr>
              <a:buSzPts val="1400"/>
              <a:buFont typeface="Arial"/>
              <a:buNone/>
            </a:pPr>
            <a:r>
              <a:rPr lang="en" sz="1400" dirty="0">
                <a:solidFill>
                  <a:srgbClr val="000000"/>
                </a:solidFill>
              </a:rPr>
              <a:t>The cross-entropy loss is used for Multi-class single label classification, where each input point belongs to one class. It effectively uses </a:t>
            </a:r>
            <a:r>
              <a:rPr lang="en" sz="1400" dirty="0" err="1">
                <a:solidFill>
                  <a:srgbClr val="000000"/>
                </a:solidFill>
              </a:rPr>
              <a:t>Softmax</a:t>
            </a:r>
            <a:r>
              <a:rPr lang="en" sz="1400" dirty="0">
                <a:solidFill>
                  <a:srgbClr val="000000"/>
                </a:solidFill>
              </a:rPr>
              <a:t> to force the probabilities to compete against each other to define one true label. In t</a:t>
            </a:r>
            <a:r>
              <a:rPr lang="en-IN" sz="1400" dirty="0">
                <a:solidFill>
                  <a:srgbClr val="000000"/>
                </a:solidFill>
              </a:rPr>
              <a:t>he</a:t>
            </a:r>
            <a:r>
              <a:rPr lang="en" sz="1400" dirty="0">
                <a:solidFill>
                  <a:srgbClr val="000000"/>
                </a:solidFill>
              </a:rPr>
              <a:t> case of Part 4, </a:t>
            </a:r>
            <a:r>
              <a:rPr lang="en" sz="1400" dirty="0" err="1">
                <a:solidFill>
                  <a:srgbClr val="000000"/>
                </a:solidFill>
              </a:rPr>
              <a:t>CrossEntropy</a:t>
            </a:r>
            <a:r>
              <a:rPr lang="en" sz="1400" dirty="0">
                <a:solidFill>
                  <a:srgbClr val="000000"/>
                </a:solidFill>
              </a:rPr>
              <a:t> would </a:t>
            </a:r>
            <a:r>
              <a:rPr lang="en" sz="1400" dirty="0" err="1">
                <a:solidFill>
                  <a:srgbClr val="000000"/>
                </a:solidFill>
              </a:rPr>
              <a:t>penali</a:t>
            </a:r>
            <a:r>
              <a:rPr lang="en-IN" sz="1400" dirty="0">
                <a:solidFill>
                  <a:srgbClr val="000000"/>
                </a:solidFill>
              </a:rPr>
              <a:t>z</a:t>
            </a:r>
            <a:r>
              <a:rPr lang="en" sz="1400" dirty="0">
                <a:solidFill>
                  <a:srgbClr val="000000"/>
                </a:solidFill>
              </a:rPr>
              <a:t>e the model for predicting high probabilities for multiple attributes, which is something we don’t want. That’s why </a:t>
            </a:r>
            <a:r>
              <a:rPr lang="en" sz="1400" dirty="0" err="1">
                <a:solidFill>
                  <a:srgbClr val="000000"/>
                </a:solidFill>
              </a:rPr>
              <a:t>BCEWithLogitsLoss</a:t>
            </a:r>
            <a:r>
              <a:rPr lang="en" sz="1400" dirty="0">
                <a:solidFill>
                  <a:srgbClr val="000000"/>
                </a:solidFill>
              </a:rPr>
              <a:t> is better, since it treats the 7 attribute predictions independently allowing any number of them to be true for a single input image. </a:t>
            </a:r>
            <a:endParaRPr lang="en" sz="1400" dirty="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2"/>
          <p:cNvSpPr txBox="1">
            <a:spLocks noGrp="1"/>
          </p:cNvSpPr>
          <p:nvPr>
            <p:ph type="title"/>
          </p:nvPr>
        </p:nvSpPr>
        <p:spPr>
          <a:xfrm>
            <a:off x="311760" y="444960"/>
            <a:ext cx="8520120" cy="572400"/>
          </a:xfrm>
          <a:prstGeom prst="rect">
            <a:avLst/>
          </a:prstGeom>
          <a:noFill/>
          <a:ln>
            <a:noFill/>
          </a:ln>
        </p:spPr>
        <p:txBody>
          <a:bodyPr spcFirstLastPara="1" wrap="square" lIns="91425" tIns="91425" rIns="91425" bIns="91425" anchor="t" anchorCtr="0">
            <a:noAutofit/>
          </a:bodyPr>
          <a:lstStyle/>
          <a:p>
            <a:pPr lvl="0">
              <a:lnSpc>
                <a:spcPct val="100000"/>
              </a:lnSpc>
              <a:buSzPts val="2800"/>
            </a:pPr>
            <a:r>
              <a:rPr lang="en" sz="2800" b="0" strike="noStrike" dirty="0">
                <a:solidFill>
                  <a:schemeClr val="dk1"/>
                </a:solidFill>
                <a:latin typeface="Arial"/>
                <a:ea typeface="Arial"/>
                <a:cs typeface="Arial"/>
                <a:sym typeface="Arial"/>
              </a:rPr>
              <a:t>Part 4: Multi-label Scene Attributes </a:t>
            </a:r>
            <a:r>
              <a:rPr lang="en-US" sz="2800" dirty="0"/>
              <a:t>(Extra Credit)</a:t>
            </a:r>
            <a:endParaRPr sz="2800" b="0" strike="noStrike" dirty="0">
              <a:solidFill>
                <a:srgbClr val="000000"/>
              </a:solidFill>
              <a:latin typeface="Arial"/>
              <a:ea typeface="Arial"/>
              <a:cs typeface="Arial"/>
              <a:sym typeface="Arial"/>
            </a:endParaRPr>
          </a:p>
        </p:txBody>
      </p:sp>
      <p:sp>
        <p:nvSpPr>
          <p:cNvPr id="169" name="Google Shape;169;p32"/>
          <p:cNvSpPr txBox="1">
            <a:spLocks noGrp="1"/>
          </p:cNvSpPr>
          <p:nvPr>
            <p:ph type="body" idx="1"/>
          </p:nvPr>
        </p:nvSpPr>
        <p:spPr>
          <a:xfrm>
            <a:off x="311760" y="1152360"/>
            <a:ext cx="820188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[Explain a problem that one needs to be wary of with multilabel classification. HINT: consider the purpose of visualizing your results with the accuracy table. You might want to do some data exploration here.]</a:t>
            </a:r>
          </a:p>
          <a:p>
            <a:pPr marL="0" marR="0" lvl="0" indent="0" algn="l" rtl="0">
              <a:lnSpc>
                <a:spcPct val="115000"/>
              </a:lnSpc>
              <a:spcBef>
                <a:spcPts val="0"/>
              </a:spcBef>
              <a:spcAft>
                <a:spcPts val="0"/>
              </a:spcAft>
              <a:buClr>
                <a:schemeClr val="dk2"/>
              </a:buClr>
              <a:buSzPts val="1400"/>
              <a:buFont typeface="Arial"/>
              <a:buNone/>
            </a:pPr>
            <a:endParaRPr lang="en" sz="1400" dirty="0">
              <a:solidFill>
                <a:schemeClr val="dk2"/>
              </a:solidFill>
            </a:endParaRPr>
          </a:p>
          <a:p>
            <a:pPr marL="0" lvl="0" indent="0">
              <a:lnSpc>
                <a:spcPct val="115000"/>
              </a:lnSpc>
              <a:spcBef>
                <a:spcPts val="0"/>
              </a:spcBef>
              <a:buClr>
                <a:schemeClr val="dk2"/>
              </a:buClr>
              <a:buSzPts val="1400"/>
              <a:buNone/>
            </a:pPr>
            <a:r>
              <a:rPr lang="en-IN" sz="1200" dirty="0"/>
              <a:t>A major problem to be wary of with multi-label classification is dataset imbalance, where some attributes are far more frequent than others. Data exploration of our training set confirms this, showing that the 'natural' attribute appears in 833 images, while the 'animals' attribute is present in only 31. This imbalance can be deceptive because a model can achieve high accuracy on a rare attribute like 'animals' (99%) simply by learning to almost always predict its absence. A high overall validation accuracy, such as our 92%, is completely hiding this flaw, which is why the per-attribute accuracy table is essential for true performance analysis. The table also reveals that imbalance isn't the only factor, as our model struggled most with clouds (79%) despite it being a common attribute, indicating it was also visually challenging. Therefore, we must be wary of class imbalance because it can create a false sense of high performance, a problem that can only be diagnosed with detailed tools like the accuracy table.</a:t>
            </a:r>
            <a:endParaRPr sz="1200" b="0" i="0" u="none" strike="noStrike" cap="none" dirty="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3"/>
          <p:cNvSpPr txBox="1">
            <a:spLocks noGrp="1"/>
          </p:cNvSpPr>
          <p:nvPr>
            <p:ph type="title"/>
          </p:nvPr>
        </p:nvSpPr>
        <p:spPr>
          <a:xfrm>
            <a:off x="311760" y="444960"/>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a:solidFill>
                  <a:schemeClr val="dk1"/>
                </a:solidFill>
                <a:latin typeface="Arial"/>
                <a:ea typeface="Arial"/>
                <a:cs typeface="Arial"/>
                <a:sym typeface="Arial"/>
              </a:rPr>
              <a:t>Extra credit (optional)</a:t>
            </a:r>
            <a:endParaRPr sz="2800" b="0" strike="noStrike">
              <a:solidFill>
                <a:srgbClr val="000000"/>
              </a:solidFill>
              <a:latin typeface="Arial"/>
              <a:ea typeface="Arial"/>
              <a:cs typeface="Arial"/>
              <a:sym typeface="Arial"/>
            </a:endParaRPr>
          </a:p>
        </p:txBody>
      </p:sp>
      <p:sp>
        <p:nvSpPr>
          <p:cNvPr id="175" name="Google Shape;175;p33"/>
          <p:cNvSpPr txBox="1">
            <a:spLocks noGrp="1"/>
          </p:cNvSpPr>
          <p:nvPr>
            <p:ph type="body" idx="1"/>
          </p:nvPr>
        </p:nvSpPr>
        <p:spPr>
          <a:xfrm>
            <a:off x="311760" y="1152360"/>
            <a:ext cx="852012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 sz="1800" b="0" i="0" u="none" strike="noStrike" cap="none" dirty="0">
                <a:solidFill>
                  <a:schemeClr val="dk2"/>
                </a:solidFill>
                <a:latin typeface="Arial"/>
                <a:ea typeface="Arial"/>
                <a:cs typeface="Arial"/>
                <a:sym typeface="Arial"/>
              </a:rPr>
              <a:t>[Discuss what extra credit you did and provide analyses.]</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5770</TotalTime>
  <Words>1404</Words>
  <Application>Microsoft Macintosh PowerPoint</Application>
  <PresentationFormat>On-screen Show (16:9)</PresentationFormat>
  <Paragraphs>140</Paragraphs>
  <Slides>15</Slides>
  <Notes>15</Notes>
  <HiddenSlides>0</HiddenSlides>
  <MMClips>0</MMClips>
  <ScaleCrop>false</ScaleCrop>
  <HeadingPairs>
    <vt:vector size="6" baseType="variant">
      <vt:variant>
        <vt:lpstr>Fonts Used</vt:lpstr>
      </vt:variant>
      <vt:variant>
        <vt:i4>2</vt:i4>
      </vt:variant>
      <vt:variant>
        <vt:lpstr>Theme</vt:lpstr>
      </vt:variant>
      <vt:variant>
        <vt:i4>4</vt:i4>
      </vt:variant>
      <vt:variant>
        <vt:lpstr>Slide Titles</vt:lpstr>
      </vt:variant>
      <vt:variant>
        <vt:i4>15</vt:i4>
      </vt:variant>
    </vt:vector>
  </HeadingPairs>
  <TitlesOfParts>
    <vt:vector size="21" baseType="lpstr">
      <vt:lpstr>Arial</vt:lpstr>
      <vt:lpstr>Times New Roman</vt:lpstr>
      <vt:lpstr>Simple Light</vt:lpstr>
      <vt:lpstr>Simple Light</vt:lpstr>
      <vt:lpstr>Simple Light</vt:lpstr>
      <vt:lpstr>Simple Light</vt:lpstr>
      <vt:lpstr>CS 6476 Project 3</vt:lpstr>
      <vt:lpstr>Part 1: SimpleNet</vt:lpstr>
      <vt:lpstr>Part 2: SimpleNetFinal</vt:lpstr>
      <vt:lpstr>Part 2: SimpleNetFinal</vt:lpstr>
      <vt:lpstr>Part 2: SimpleNetFinal</vt:lpstr>
      <vt:lpstr>Part 2: SimpleNetFinal</vt:lpstr>
      <vt:lpstr>Part 3: ResNet</vt:lpstr>
      <vt:lpstr>Part 3: ResNet</vt:lpstr>
      <vt:lpstr>Part 3: ResNet</vt:lpstr>
      <vt:lpstr>Part 3: ResNet</vt:lpstr>
      <vt:lpstr>Part 4: Multi-label Scene Attributes (Extra Credit)</vt:lpstr>
      <vt:lpstr>Part 4: Multi-label Scene Attributes (Extra Credit)</vt:lpstr>
      <vt:lpstr>Part 4: Multi-label Scene Attributes (Extra Credit)</vt:lpstr>
      <vt:lpstr>Part 4: Multi-label Scene Attributes (Extra Credit)</vt:lpstr>
      <vt:lpstr>Extra credit (optional)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6476 Project 3</dc:title>
  <cp:lastModifiedBy>Microsoft Office User</cp:lastModifiedBy>
  <cp:revision>103</cp:revision>
  <dcterms:modified xsi:type="dcterms:W3CDTF">2025-10-06T23:09:54Z</dcterms:modified>
</cp:coreProperties>
</file>